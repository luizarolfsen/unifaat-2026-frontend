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5143500" cy="9144000"/>
  <p:embeddedFontLst>
    <p:embeddedFont>
      <p:font typeface="Inter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schemas.openxmlformats.org/officeDocument/2006/relationships/font" Target="fonts/Inter-boldItalic.fntdata"/><Relationship Id="rId12" Type="http://schemas.openxmlformats.org/officeDocument/2006/relationships/slide" Target="slides/slide8.xml"/><Relationship Id="rId23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f3fe10b71b_0_0:notes"/>
          <p:cNvSpPr txBox="1"/>
          <p:nvPr>
            <p:ph idx="1" type="body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g3f3fe10b71b_0_0:notes"/>
          <p:cNvSpPr/>
          <p:nvPr>
            <p:ph idx="2" type="sldImg"/>
          </p:nvPr>
        </p:nvSpPr>
        <p:spPr>
          <a:xfrm>
            <a:off x="51435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3fe10b71b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" name="Google Shape;22;g3f3fe10b71b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g3f3fe10b71b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f3fe10b71b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" name="Google Shape;28;g3f3fe10b71b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g3f3fe10b71b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luan-tavares/unifaat-frontend-bimestre-01" TargetMode="External"/><Relationship Id="rId4" Type="http://schemas.openxmlformats.org/officeDocument/2006/relationships/hyperlink" Target="https://docs.google.com/forms/d/e/1FAIpQLSdJ1DIp8VmDNyzQV2haY4HWodQPi2OSSbwb_CHGk5LzfYtHBw/viewform?usp=dialo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755" cy="514336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/>
        </p:nvSpPr>
        <p:spPr>
          <a:xfrm>
            <a:off x="36530" y="3331785"/>
            <a:ext cx="58908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</a:rPr>
              <a:t>2026.2 - 4º Semestre - Frontend</a:t>
            </a:r>
            <a:endParaRPr b="1" sz="2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</a:rPr>
              <a:t>Aula 02 - </a:t>
            </a:r>
            <a:r>
              <a:rPr b="1" lang="en-US" sz="1900">
                <a:solidFill>
                  <a:schemeClr val="lt1"/>
                </a:solidFill>
              </a:rPr>
              <a:t>CSS, Seletores e JS Reativo</a:t>
            </a:r>
            <a:br>
              <a:rPr b="1" lang="en-US" sz="1900">
                <a:solidFill>
                  <a:schemeClr val="lt1"/>
                </a:solidFill>
              </a:rPr>
            </a:br>
            <a:r>
              <a:rPr b="1" lang="en-US" sz="1500">
                <a:solidFill>
                  <a:schemeClr val="lt1"/>
                </a:solidFill>
              </a:rPr>
              <a:t>Professor Luan</a:t>
            </a:r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7575" y="539000"/>
            <a:ext cx="5360100" cy="406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/>
        </p:nvSpPr>
        <p:spPr>
          <a:xfrm>
            <a:off x="855950" y="1833000"/>
            <a:ext cx="7215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Reposit</a:t>
            </a:r>
            <a:r>
              <a:rPr b="1" lang="en-US"/>
              <a:t>ório:</a:t>
            </a:r>
            <a:br>
              <a:rPr lang="en-US"/>
            </a:br>
            <a:r>
              <a:rPr lang="en-US" u="sng">
                <a:solidFill>
                  <a:schemeClr val="hlink"/>
                </a:solidFill>
                <a:hlinkClick r:id="rId3"/>
              </a:rPr>
              <a:t>https://github.com/luan-tavares/unifaat-frontend-bimestre-01</a:t>
            </a:r>
            <a:br>
              <a:rPr lang="en-US"/>
            </a:br>
            <a:br>
              <a:rPr lang="en-US"/>
            </a:br>
            <a:r>
              <a:rPr b="1" lang="en-US"/>
              <a:t>TF 02:</a:t>
            </a:r>
            <a:br>
              <a:rPr lang="en-US"/>
            </a:br>
            <a:r>
              <a:rPr lang="en-US" u="sng">
                <a:solidFill>
                  <a:schemeClr val="hlink"/>
                </a:solidFill>
                <a:hlinkClick r:id="rId4"/>
              </a:rPr>
              <a:t>https://docs.google.com/forms/d/e/1FAIpQLSdJ1DIp8VmDNyzQV2haY4HWodQPi2OSSbwb_CHGk5LzfYtHBw/viewform?usp=dialog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496119" y="1647676"/>
            <a:ext cx="8151763" cy="420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Revisão Rápida — Aula 1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7"/>
          <p:cNvSpPr/>
          <p:nvPr/>
        </p:nvSpPr>
        <p:spPr>
          <a:xfrm>
            <a:off x="399083" y="2260476"/>
            <a:ext cx="4105647" cy="1235348"/>
          </a:xfrm>
          <a:prstGeom prst="roundRect">
            <a:avLst>
              <a:gd fmla="val 7850" name="adj"/>
            </a:avLst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/>
          <p:nvPr/>
        </p:nvSpPr>
        <p:spPr>
          <a:xfrm>
            <a:off x="533698" y="2388394"/>
            <a:ext cx="3836417" cy="21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 que já sabemos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7"/>
          <p:cNvSpPr/>
          <p:nvPr/>
        </p:nvSpPr>
        <p:spPr>
          <a:xfrm>
            <a:off x="533698" y="2726680"/>
            <a:ext cx="3836417" cy="724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850">
            <a:noAutofit/>
          </a:bodyPr>
          <a:lstStyle/>
          <a:p>
            <a:pPr indent="-213360" lvl="0" marL="21336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DOM = árvore de nós gerada pelo parsing de HTML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JS acessa e manipula essa árvore via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Vendor 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Char char="•"/>
            </a:pPr>
            <a:r>
              <a:rPr b="0" i="0" lang="en-US" sz="1050" u="none" cap="none" strike="noStrike">
                <a:solidFill>
                  <a:srgbClr val="FFFFFF"/>
                </a:solidFill>
                <a:highlight>
                  <a:srgbClr val="0D4369"/>
                </a:highlight>
                <a:latin typeface="Consolas"/>
                <a:ea typeface="Consolas"/>
                <a:cs typeface="Consolas"/>
                <a:sym typeface="Consolas"/>
              </a:rPr>
              <a:t>append</a:t>
            </a:r>
            <a:r>
              <a:rPr b="0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/ </a:t>
            </a:r>
            <a:r>
              <a:rPr b="0" i="0" lang="en-US" sz="1050" u="none" cap="none" strike="noStrike">
                <a:solidFill>
                  <a:srgbClr val="FFFFFF"/>
                </a:solidFill>
                <a:highlight>
                  <a:srgbClr val="0D4369"/>
                </a:highlight>
                <a:latin typeface="Consolas"/>
                <a:ea typeface="Consolas"/>
                <a:cs typeface="Consolas"/>
                <a:sym typeface="Consolas"/>
              </a:rPr>
              <a:t>prepend</a:t>
            </a:r>
            <a:r>
              <a:rPr b="0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para inserir nós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7"/>
          <p:cNvSpPr/>
          <p:nvPr/>
        </p:nvSpPr>
        <p:spPr>
          <a:xfrm>
            <a:off x="4741069" y="2388394"/>
            <a:ext cx="3911575" cy="21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que vem agora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7"/>
          <p:cNvSpPr/>
          <p:nvPr/>
        </p:nvSpPr>
        <p:spPr>
          <a:xfrm>
            <a:off x="4741069" y="2726680"/>
            <a:ext cx="3911575" cy="724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850">
            <a:noAutofit/>
          </a:bodyPr>
          <a:lstStyle/>
          <a:p>
            <a:pPr indent="-213360" lvl="0" marL="21336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050"/>
              <a:buFont typeface="Consolas"/>
              <a:buChar char="•"/>
            </a:pPr>
            <a:r>
              <a:rPr b="0" i="0" lang="en-US" sz="10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querySelector</a:t>
            </a:r>
            <a:r>
              <a:rPr b="0" i="0" lang="en-US" sz="10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b="0" i="0" lang="en-US" sz="10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querySelectorAll</a:t>
            </a:r>
            <a:r>
              <a:rPr b="0" i="0" lang="en-US" sz="10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com profundidade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CSS como segundo consumidor dos mesmos seletores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3360" lvl="0" marL="21336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050"/>
              <a:buFont typeface="Inter"/>
              <a:buChar char="•"/>
            </a:pPr>
            <a:r>
              <a:rPr b="0" i="0" lang="en-US" sz="10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JS orientado a eventos — o traço do frontend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/>
          <p:nvPr/>
        </p:nvSpPr>
        <p:spPr>
          <a:xfrm>
            <a:off x="496119" y="808806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querySelector vs querySelectorAll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" name="Google Shape;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535311"/>
            <a:ext cx="4004965" cy="2072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8"/>
          <p:cNvSpPr/>
          <p:nvPr/>
        </p:nvSpPr>
        <p:spPr>
          <a:xfrm>
            <a:off x="733127" y="1696120"/>
            <a:ext cx="3607147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querySelector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733127" y="2007394"/>
            <a:ext cx="3607147" cy="543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Retorna o </a:t>
            </a:r>
            <a:r>
              <a:rPr b="1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primeiro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elemento que casa com o seletor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Retorna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Element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ou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733127" y="2710309"/>
            <a:ext cx="3607147" cy="510332"/>
          </a:xfrm>
          <a:prstGeom prst="roundRect">
            <a:avLst>
              <a:gd fmla="val 11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8"/>
          <p:cNvSpPr/>
          <p:nvPr/>
        </p:nvSpPr>
        <p:spPr>
          <a:xfrm>
            <a:off x="903238" y="2852068"/>
            <a:ext cx="3266926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const el = document.querySelector(".destaque");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" name="Google Shape;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2842" y="1535311"/>
            <a:ext cx="4005039" cy="207295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/>
          <p:nvPr/>
        </p:nvSpPr>
        <p:spPr>
          <a:xfrm>
            <a:off x="4879851" y="1696120"/>
            <a:ext cx="3607222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querySelectorAll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4879851" y="2007394"/>
            <a:ext cx="3607222" cy="543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Retorna </a:t>
            </a:r>
            <a:r>
              <a:rPr b="1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todos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os elementos que casam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65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Retorna uma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NodeList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— não é um array puro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8"/>
          <p:cNvSpPr/>
          <p:nvPr/>
        </p:nvSpPr>
        <p:spPr>
          <a:xfrm>
            <a:off x="4879851" y="2710309"/>
            <a:ext cx="3607222" cy="737146"/>
          </a:xfrm>
          <a:prstGeom prst="roundRect">
            <a:avLst>
              <a:gd fmla="val 807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8"/>
          <p:cNvSpPr/>
          <p:nvPr/>
        </p:nvSpPr>
        <p:spPr>
          <a:xfrm>
            <a:off x="5049962" y="2852068"/>
            <a:ext cx="3267001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const lista = document.querySelectorAll(".destaque");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8"/>
          <p:cNvSpPr/>
          <p:nvPr/>
        </p:nvSpPr>
        <p:spPr>
          <a:xfrm>
            <a:off x="496119" y="3767733"/>
            <a:ext cx="8151763" cy="566961"/>
          </a:xfrm>
          <a:prstGeom prst="roundRect">
            <a:avLst>
              <a:gd fmla="val 10502" name="adj"/>
            </a:avLst>
          </a:prstGeom>
          <a:solidFill>
            <a:srgbClr val="C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877" y="3968502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>
            <a:off x="956816" y="3944913"/>
            <a:ext cx="8006507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sintaxe dos seletores é a mesma do CSS — a mesma linguagem, dois contextos.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/>
          <p:nvPr/>
        </p:nvSpPr>
        <p:spPr>
          <a:xfrm>
            <a:off x="496119" y="390599"/>
            <a:ext cx="8151763" cy="4034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500"/>
              <a:buFont typeface="Inter"/>
              <a:buNone/>
            </a:pPr>
            <a:r>
              <a:rPr b="1" i="0" lang="en-US" sz="25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Cardinalidade: </a:t>
            </a:r>
            <a:r>
              <a:rPr b="1" i="0" lang="en-US" sz="25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b="1" i="0" lang="en-US" sz="25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vs </a:t>
            </a:r>
            <a:r>
              <a:rPr b="1" i="0" lang="en-US" sz="25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9"/>
          <p:cNvSpPr/>
          <p:nvPr/>
        </p:nvSpPr>
        <p:spPr>
          <a:xfrm>
            <a:off x="496119" y="1581820"/>
            <a:ext cx="1902693" cy="2555453"/>
          </a:xfrm>
          <a:prstGeom prst="roundRect">
            <a:avLst>
              <a:gd fmla="val 2816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9"/>
          <p:cNvSpPr/>
          <p:nvPr/>
        </p:nvSpPr>
        <p:spPr>
          <a:xfrm>
            <a:off x="628427" y="1714128"/>
            <a:ext cx="1638077" cy="199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4B2D8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64B2D8"/>
                </a:solidFill>
                <a:latin typeface="Inter"/>
                <a:ea typeface="Inter"/>
                <a:cs typeface="Inter"/>
                <a:sym typeface="Inter"/>
              </a:rPr>
              <a:t>#id</a:t>
            </a:r>
            <a:r>
              <a:rPr b="1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— 1 para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9"/>
          <p:cNvSpPr/>
          <p:nvPr/>
        </p:nvSpPr>
        <p:spPr>
          <a:xfrm>
            <a:off x="628427" y="2028230"/>
            <a:ext cx="1638077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Um elemento, um id único no documento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9"/>
          <p:cNvSpPr/>
          <p:nvPr/>
        </p:nvSpPr>
        <p:spPr>
          <a:xfrm>
            <a:off x="628427" y="2545259"/>
            <a:ext cx="1638077" cy="1071860"/>
          </a:xfrm>
          <a:prstGeom prst="roundRect">
            <a:avLst>
              <a:gd fmla="val 50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9"/>
          <p:cNvSpPr/>
          <p:nvPr/>
        </p:nvSpPr>
        <p:spPr>
          <a:xfrm>
            <a:off x="781496" y="2672804"/>
            <a:ext cx="1331937" cy="816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document.querySelector("#cabecalho")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// → sempre 1 elemento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2513633" y="1581820"/>
            <a:ext cx="1902768" cy="2555453"/>
          </a:xfrm>
          <a:prstGeom prst="roundRect">
            <a:avLst>
              <a:gd fmla="val 2816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2645941" y="1714128"/>
            <a:ext cx="1638151" cy="199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4B2D8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64B2D8"/>
                </a:solidFill>
                <a:latin typeface="Inter"/>
                <a:ea typeface="Inter"/>
                <a:cs typeface="Inter"/>
                <a:sym typeface="Inter"/>
              </a:rPr>
              <a:t>.class</a:t>
            </a:r>
            <a:r>
              <a:rPr b="1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— n para 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2645941" y="2028230"/>
            <a:ext cx="1638151" cy="775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Um elemento pode ter várias classes; uma classe pode estar em muitos elementos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2645941" y="2933105"/>
            <a:ext cx="1638151" cy="1071860"/>
          </a:xfrm>
          <a:prstGeom prst="roundRect">
            <a:avLst>
              <a:gd fmla="val 50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9"/>
          <p:cNvSpPr/>
          <p:nvPr/>
        </p:nvSpPr>
        <p:spPr>
          <a:xfrm>
            <a:off x="2799011" y="3060650"/>
            <a:ext cx="1332012" cy="816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document.querySelectorAll(".card")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// → NodeList com N elementos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" name="Google Shape;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362" y="1095449"/>
            <a:ext cx="3528194" cy="3528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/>
          <p:nvPr/>
        </p:nvSpPr>
        <p:spPr>
          <a:xfrm>
            <a:off x="496119" y="938064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HTMLElement, NodeList e a Hierarquia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496119" y="1735410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Cadeia de herança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9846" y="2116336"/>
            <a:ext cx="643979" cy="50497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1372121" y="2298725"/>
            <a:ext cx="199355" cy="24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1935584" y="2258095"/>
            <a:ext cx="2321719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HTMLElement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1829246" y="2629495"/>
            <a:ext cx="2534394" cy="9525"/>
          </a:xfrm>
          <a:prstGeom prst="roundRect">
            <a:avLst>
              <a:gd fmla="val 50000" name="adj"/>
            </a:avLst>
          </a:prstGeom>
          <a:solidFill>
            <a:srgbClr val="B2D0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856" y="2656731"/>
            <a:ext cx="1287959" cy="5049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/>
          <p:nvPr/>
        </p:nvSpPr>
        <p:spPr>
          <a:xfrm>
            <a:off x="1372121" y="2784649"/>
            <a:ext cx="199355" cy="24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2257574" y="2798490"/>
            <a:ext cx="1999729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Element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2151236" y="3169890"/>
            <a:ext cx="2212404" cy="9525"/>
          </a:xfrm>
          <a:prstGeom prst="roundRect">
            <a:avLst>
              <a:gd fmla="val 50000" name="adj"/>
            </a:avLst>
          </a:prstGeom>
          <a:solidFill>
            <a:srgbClr val="B2D0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5867" y="3197126"/>
            <a:ext cx="1931938" cy="50497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0"/>
          <p:cNvSpPr/>
          <p:nvPr/>
        </p:nvSpPr>
        <p:spPr>
          <a:xfrm>
            <a:off x="1372121" y="3325044"/>
            <a:ext cx="199355" cy="2491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2579563" y="3338885"/>
            <a:ext cx="1677739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Node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4749701" y="1735410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que cada um traz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"/>
          <p:cNvSpPr/>
          <p:nvPr/>
        </p:nvSpPr>
        <p:spPr>
          <a:xfrm>
            <a:off x="4749701" y="2098625"/>
            <a:ext cx="3902943" cy="1015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700">
            <a:noAutofit/>
          </a:bodyPr>
          <a:lstStyle/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Char char="•"/>
            </a:pPr>
            <a:r>
              <a:rPr b="1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Node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— classe base: elementos, texto, comentários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Char char="•"/>
            </a:pPr>
            <a:r>
              <a:rPr b="1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Element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— nós de tags HTML e SVG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Char char="•"/>
            </a:pPr>
            <a:r>
              <a:rPr b="1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HTMLElement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— especialização HTML: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classList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innerHTML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4749701" y="3256285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NodeList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4749701" y="3619500"/>
            <a:ext cx="3902943" cy="45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Coleção de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Element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s. Tem índice e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, mas </a:t>
            </a:r>
            <a:r>
              <a:rPr b="1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não é um array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— alguns métodos de array não estão disponíveis.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/>
          <p:nvPr/>
        </p:nvSpPr>
        <p:spPr>
          <a:xfrm>
            <a:off x="496119" y="1020663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Navegando na Árvore do DOM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496119" y="1747168"/>
            <a:ext cx="8151763" cy="1417588"/>
          </a:xfrm>
          <a:prstGeom prst="roundRect">
            <a:avLst>
              <a:gd fmla="val 42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1"/>
          <p:cNvSpPr/>
          <p:nvPr/>
        </p:nvSpPr>
        <p:spPr>
          <a:xfrm>
            <a:off x="666229" y="1888927"/>
            <a:ext cx="7811542" cy="1134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destaque.children          // filhos diretos → HTMLCollection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destaque.firstElementChild // primeiro filho → Element | null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destaque.lastElementChild  // último filho  → Element | null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destaque.parentElement     // elemento pai  → Element | null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destaque.closest(".box")   // sobe até achar ancestral → Element | null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496119" y="3324225"/>
            <a:ext cx="8151763" cy="798537"/>
          </a:xfrm>
          <a:prstGeom prst="roundRect">
            <a:avLst>
              <a:gd fmla="val 7456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" name="Google Shape;1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877" y="3524994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1"/>
          <p:cNvSpPr/>
          <p:nvPr/>
        </p:nvSpPr>
        <p:spPr>
          <a:xfrm>
            <a:off x="956816" y="3501405"/>
            <a:ext cx="7549307" cy="45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closest()</a:t>
            </a: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é especialmente útil dentro de event handlers — sobe a árvore a partir do </a:t>
            </a:r>
            <a:r>
              <a:rPr b="0" i="0" lang="en-US" sz="110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event.target</a:t>
            </a: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até encontrar o elemento clicável.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/>
          <p:nvPr/>
        </p:nvSpPr>
        <p:spPr>
          <a:xfrm>
            <a:off x="496119" y="627013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HTMLElement.style — CSS via JS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2"/>
          <p:cNvSpPr/>
          <p:nvPr/>
        </p:nvSpPr>
        <p:spPr>
          <a:xfrm>
            <a:off x="496119" y="1424360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Regra de conversão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805285"/>
            <a:ext cx="708794" cy="88307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2"/>
          <p:cNvSpPr/>
          <p:nvPr/>
        </p:nvSpPr>
        <p:spPr>
          <a:xfrm>
            <a:off x="1346671" y="1947044"/>
            <a:ext cx="3052390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CSS: </a:t>
            </a:r>
            <a:r>
              <a:rPr b="1" i="0" lang="en-US" sz="13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kebab-case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2"/>
          <p:cNvSpPr/>
          <p:nvPr/>
        </p:nvSpPr>
        <p:spPr>
          <a:xfrm>
            <a:off x="1346671" y="2315021"/>
            <a:ext cx="3052390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background-color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/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2688357"/>
            <a:ext cx="708794" cy="88307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2"/>
          <p:cNvSpPr/>
          <p:nvPr/>
        </p:nvSpPr>
        <p:spPr>
          <a:xfrm>
            <a:off x="1346671" y="2830116"/>
            <a:ext cx="3052390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JS: </a:t>
            </a:r>
            <a:r>
              <a:rPr b="1" i="0" lang="en-US" sz="13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camelCase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1346671" y="3198093"/>
            <a:ext cx="3052390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backgroundColor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/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fontSize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4749701" y="1424360"/>
            <a:ext cx="390294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Exemplo prático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4749701" y="1805285"/>
            <a:ext cx="3902943" cy="2551658"/>
          </a:xfrm>
          <a:prstGeom prst="roundRect">
            <a:avLst>
              <a:gd fmla="val 233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919811" y="1947044"/>
            <a:ext cx="3562722" cy="2268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const el = document.querySelector(".destaque");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// equivalente a background-color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el.style.backgroundColor = "#f0f0f0";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// equivalente a font-size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el.style.fontSize = "18px";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// equivalente a line-height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el.style.lineHeight = "1.5";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/>
          <p:nvPr/>
        </p:nvSpPr>
        <p:spPr>
          <a:xfrm>
            <a:off x="496119" y="684163"/>
            <a:ext cx="8151763" cy="337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050"/>
              <a:buFont typeface="Consolas"/>
              <a:buNone/>
            </a:pPr>
            <a:r>
              <a:rPr b="1" i="0" lang="en-US" sz="20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element.classList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496119" y="1230437"/>
            <a:ext cx="4366692" cy="722858"/>
          </a:xfrm>
          <a:prstGeom prst="roundRect">
            <a:avLst>
              <a:gd fmla="val 617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/>
          <p:nvPr/>
        </p:nvSpPr>
        <p:spPr>
          <a:xfrm>
            <a:off x="623664" y="1336700"/>
            <a:ext cx="4111600" cy="510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&lt;div id="card" class="box active highlight"&gt;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496119" y="2042964"/>
            <a:ext cx="4823892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Propriedade </a:t>
            </a:r>
            <a:r>
              <a:rPr b="0" i="1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live</a:t>
            </a: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que retorna um </a:t>
            </a: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DOMTokenList</a:t>
            </a: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— parecido com array, mas não é.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496119" y="2281461"/>
            <a:ext cx="4366692" cy="1233190"/>
          </a:xfrm>
          <a:prstGeom prst="roundRect">
            <a:avLst>
              <a:gd fmla="val 3621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623664" y="2387724"/>
            <a:ext cx="4111600" cy="1020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const el = document.querySelector("#card");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// class="box active highlight"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el.classList[0]      // "box"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el.classList.length  //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Array.from(el.classList) // → Array real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496119" y="3604320"/>
            <a:ext cx="4366692" cy="345430"/>
          </a:xfrm>
          <a:prstGeom prst="roundRect">
            <a:avLst>
              <a:gd fmla="val 12928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382" y="3731865"/>
            <a:ext cx="132904" cy="10626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3"/>
          <p:cNvSpPr/>
          <p:nvPr/>
        </p:nvSpPr>
        <p:spPr>
          <a:xfrm>
            <a:off x="841549" y="3702621"/>
            <a:ext cx="4372198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Não tem </a:t>
            </a:r>
            <a:r>
              <a:rPr b="0" i="0" lang="en-US" sz="80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b="0" i="0" lang="en-US" sz="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b="0" i="0" lang="en-US" sz="80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filter</a:t>
            </a:r>
            <a:r>
              <a:rPr b="0" i="0" lang="en-US" sz="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b="0" i="0" lang="en-US" sz="80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reduce</a:t>
            </a:r>
            <a:r>
              <a:rPr b="0" i="0" lang="en-US" sz="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nativos — converta com </a:t>
            </a:r>
            <a:r>
              <a:rPr b="0" i="0" lang="en-US" sz="80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Array.from()</a:t>
            </a:r>
            <a:r>
              <a:rPr b="0" i="0" lang="en-US" sz="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se precisar.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5126980" y="1220465"/>
            <a:ext cx="3525589" cy="166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Métodos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6980" y="1476226"/>
            <a:ext cx="1722909" cy="64048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/>
          <p:nvPr/>
        </p:nvSpPr>
        <p:spPr>
          <a:xfrm>
            <a:off x="5304681" y="1596777"/>
            <a:ext cx="1424657" cy="170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.add("cls")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5304681" y="1847329"/>
            <a:ext cx="142465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Adiciona classe(s)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9586" y="1476226"/>
            <a:ext cx="1722983" cy="64048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3"/>
          <p:cNvSpPr/>
          <p:nvPr/>
        </p:nvSpPr>
        <p:spPr>
          <a:xfrm>
            <a:off x="7107287" y="1596777"/>
            <a:ext cx="1424732" cy="170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.remove("cls")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7107287" y="1847329"/>
            <a:ext cx="1424732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Remove classe(s)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9" name="Google Shape;14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6980" y="2196405"/>
            <a:ext cx="1722909" cy="64048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3"/>
          <p:cNvSpPr/>
          <p:nvPr/>
        </p:nvSpPr>
        <p:spPr>
          <a:xfrm>
            <a:off x="5304681" y="2316956"/>
            <a:ext cx="1424657" cy="170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.toggle("cls")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5304681" y="2567508"/>
            <a:ext cx="142465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Alterna; retorna </a:t>
            </a: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2" name="Google Shape;15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9586" y="2196405"/>
            <a:ext cx="1722983" cy="64048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3"/>
          <p:cNvSpPr/>
          <p:nvPr/>
        </p:nvSpPr>
        <p:spPr>
          <a:xfrm>
            <a:off x="7107287" y="2316956"/>
            <a:ext cx="1424732" cy="170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.toggle("cls", force)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7107287" y="2567508"/>
            <a:ext cx="1424732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Força add/remove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5" name="Google Shape;15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6980" y="2916585"/>
            <a:ext cx="1722909" cy="64048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3"/>
          <p:cNvSpPr/>
          <p:nvPr/>
        </p:nvSpPr>
        <p:spPr>
          <a:xfrm>
            <a:off x="5304681" y="3037136"/>
            <a:ext cx="1424657" cy="170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.contains("cls")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5304681" y="3287688"/>
            <a:ext cx="142465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Verifica existência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8" name="Google Shape;15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9586" y="2916585"/>
            <a:ext cx="1722983" cy="64048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3"/>
          <p:cNvSpPr/>
          <p:nvPr/>
        </p:nvSpPr>
        <p:spPr>
          <a:xfrm>
            <a:off x="7107287" y="3037136"/>
            <a:ext cx="1424732" cy="170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.replace("old","new")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7107287" y="3287688"/>
            <a:ext cx="1424732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Troca de classe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5126980" y="3646736"/>
            <a:ext cx="3525589" cy="722858"/>
          </a:xfrm>
          <a:prstGeom prst="roundRect">
            <a:avLst>
              <a:gd fmla="val 617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3"/>
          <p:cNvSpPr/>
          <p:nvPr/>
        </p:nvSpPr>
        <p:spPr>
          <a:xfrm>
            <a:off x="5254526" y="3752999"/>
            <a:ext cx="3270498" cy="510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btn.addEventListener("click", () =&gt; {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menu.classList.toggle("aberto");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/>
          <p:nvPr/>
        </p:nvSpPr>
        <p:spPr>
          <a:xfrm>
            <a:off x="496119" y="507578"/>
            <a:ext cx="8151763" cy="376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350"/>
              <a:buFont typeface="Inter"/>
              <a:buNone/>
            </a:pPr>
            <a:r>
              <a:rPr b="1" i="0" lang="en-US" sz="2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CSS — A Mesma Linguagem de Seleção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496119" y="1140098"/>
            <a:ext cx="3928914" cy="188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Seletores básicos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496119" y="1443558"/>
            <a:ext cx="3928914" cy="819150"/>
          </a:xfrm>
          <a:prstGeom prst="roundRect">
            <a:avLst>
              <a:gd fmla="val 617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4"/>
          <p:cNvSpPr/>
          <p:nvPr/>
        </p:nvSpPr>
        <p:spPr>
          <a:xfrm>
            <a:off x="640705" y="1564035"/>
            <a:ext cx="3639741" cy="578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tag   { }   /* por tag */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.cls  { }   /* por classe */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#id   { }   /* por id */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496119" y="2377901"/>
            <a:ext cx="3928914" cy="188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Hierarquia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4"/>
          <p:cNvSpPr/>
          <p:nvPr/>
        </p:nvSpPr>
        <p:spPr>
          <a:xfrm>
            <a:off x="496119" y="2681362"/>
            <a:ext cx="3928914" cy="1011882"/>
          </a:xfrm>
          <a:prstGeom prst="roundRect">
            <a:avLst>
              <a:gd fmla="val 5002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4"/>
          <p:cNvSpPr/>
          <p:nvPr/>
        </p:nvSpPr>
        <p:spPr>
          <a:xfrm>
            <a:off x="640705" y="2801838"/>
            <a:ext cx="3639741" cy="770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A B   { }   /* descendente */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A &gt; B { }   /* filho direto */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A + B { }   /* irmão imediato */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A ~ B { }   /* irmãos seguintes */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4"/>
          <p:cNvSpPr/>
          <p:nvPr/>
        </p:nvSpPr>
        <p:spPr>
          <a:xfrm>
            <a:off x="4723730" y="1140098"/>
            <a:ext cx="3928914" cy="188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Atributo &amp; Pseudo-classes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4"/>
          <p:cNvSpPr/>
          <p:nvPr/>
        </p:nvSpPr>
        <p:spPr>
          <a:xfrm>
            <a:off x="4723730" y="1443558"/>
            <a:ext cx="3928914" cy="2361009"/>
          </a:xfrm>
          <a:prstGeom prst="roundRect">
            <a:avLst>
              <a:gd fmla="val 214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"/>
          <p:cNvSpPr/>
          <p:nvPr/>
        </p:nvSpPr>
        <p:spPr>
          <a:xfrm>
            <a:off x="4868317" y="1564035"/>
            <a:ext cx="3639741" cy="2120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[disabled]      { } /* tem atributo */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[type="text"]   { } /* valor exato */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[href^="https"] { } /* começa com */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[src$=".png"]   { } /* termina com */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[class*="alert"]{ } /* contém */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:first-child { 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:last-child  { 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:nth-child(n){ 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:hover       { 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5CC5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:focus       { 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4723730" y="3919761"/>
            <a:ext cx="3928914" cy="600968"/>
          </a:xfrm>
          <a:prstGeom prst="roundRect">
            <a:avLst>
              <a:gd fmla="val 8422" name="adj"/>
            </a:avLst>
          </a:prstGeom>
          <a:solidFill>
            <a:srgbClr val="C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" name="Google Shape;17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4207" y="4080123"/>
            <a:ext cx="150614" cy="12047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4"/>
          <p:cNvSpPr/>
          <p:nvPr/>
        </p:nvSpPr>
        <p:spPr>
          <a:xfrm>
            <a:off x="5115297" y="4041949"/>
            <a:ext cx="3416871" cy="356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Todos esses seletores funcionam dentro de </a:t>
            </a:r>
            <a:r>
              <a:rPr b="0" i="0" lang="en-US" sz="90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querySelector</a:t>
            </a:r>
            <a:r>
              <a:rPr b="0" i="0" lang="en-U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b="0" i="0" lang="en-US" sz="90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querySelectorAll</a:t>
            </a:r>
            <a:r>
              <a:rPr b="0" i="0" lang="en-U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também.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/>
          <p:nvPr/>
        </p:nvSpPr>
        <p:spPr>
          <a:xfrm>
            <a:off x="496119" y="1157660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Display: o Comportamento no Fluxo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496119" y="1884164"/>
            <a:ext cx="8151763" cy="2101602"/>
          </a:xfrm>
          <a:prstGeom prst="roundRect">
            <a:avLst>
              <a:gd fmla="val 2833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5"/>
          <p:cNvSpPr/>
          <p:nvPr/>
        </p:nvSpPr>
        <p:spPr>
          <a:xfrm>
            <a:off x="500881" y="1888927"/>
            <a:ext cx="4071119" cy="1048420"/>
          </a:xfrm>
          <a:custGeom>
            <a:rect b="b" l="l" r="r" t="t"/>
            <a:pathLst>
              <a:path extrusionOk="0" h="1048420" w="4071119">
                <a:moveTo>
                  <a:pt x="49619" y="0"/>
                </a:moveTo>
                <a:lnTo>
                  <a:pt x="4071119" y="0"/>
                </a:lnTo>
                <a:lnTo>
                  <a:pt x="4071119" y="1048420"/>
                </a:lnTo>
                <a:lnTo>
                  <a:pt x="0" y="1048420"/>
                </a:lnTo>
                <a:lnTo>
                  <a:pt x="0" y="49619"/>
                </a:lnTo>
                <a:cubicBezTo>
                  <a:pt x="0" y="22215"/>
                  <a:pt x="22215" y="0"/>
                  <a:pt x="49619" y="0"/>
                </a:cubicBezTo>
                <a:close/>
              </a:path>
            </a:pathLst>
          </a:custGeom>
          <a:solidFill>
            <a:srgbClr val="C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642640" y="2030685"/>
            <a:ext cx="357500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block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642640" y="2337197"/>
            <a:ext cx="3575000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Ocupa 100% da largura, quebra linha. Ex: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4572000" y="1888927"/>
            <a:ext cx="4071119" cy="1048420"/>
          </a:xfrm>
          <a:custGeom>
            <a:rect b="b" l="l" r="r" t="t"/>
            <a:pathLst>
              <a:path extrusionOk="0" h="1048420" w="4071119">
                <a:moveTo>
                  <a:pt x="0" y="0"/>
                </a:moveTo>
                <a:lnTo>
                  <a:pt x="4021500" y="0"/>
                </a:lnTo>
                <a:cubicBezTo>
                  <a:pt x="4034660" y="0"/>
                  <a:pt x="4047281" y="5228"/>
                  <a:pt x="4056586" y="14533"/>
                </a:cubicBezTo>
                <a:cubicBezTo>
                  <a:pt x="4065891" y="23838"/>
                  <a:pt x="4071119" y="36459"/>
                  <a:pt x="4071119" y="49619"/>
                </a:cubicBezTo>
                <a:lnTo>
                  <a:pt x="4071119" y="1048420"/>
                </a:lnTo>
                <a:lnTo>
                  <a:pt x="0" y="1048420"/>
                </a:lnTo>
                <a:lnTo>
                  <a:pt x="0" y="0"/>
                </a:lnTo>
                <a:close/>
              </a:path>
            </a:pathLst>
          </a:custGeom>
          <a:solidFill>
            <a:srgbClr val="C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5"/>
          <p:cNvSpPr/>
          <p:nvPr/>
        </p:nvSpPr>
        <p:spPr>
          <a:xfrm>
            <a:off x="4572000" y="1888927"/>
            <a:ext cx="19050" cy="1048420"/>
          </a:xfrm>
          <a:prstGeom prst="roundRect">
            <a:avLst>
              <a:gd fmla="val 50000" name="adj"/>
            </a:avLst>
          </a:prstGeom>
          <a:solidFill>
            <a:srgbClr val="B2D0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4926360" y="2030685"/>
            <a:ext cx="357500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inline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4926360" y="2337197"/>
            <a:ext cx="3575000" cy="45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Só o espaço do conteúdo, sem quebra. Sem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. Ex: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500881" y="2937346"/>
            <a:ext cx="4071119" cy="1043657"/>
          </a:xfrm>
          <a:custGeom>
            <a:rect b="b" l="l" r="r" t="t"/>
            <a:pathLst>
              <a:path extrusionOk="0" h="1043657" w="4071119">
                <a:moveTo>
                  <a:pt x="0" y="0"/>
                </a:moveTo>
                <a:lnTo>
                  <a:pt x="4071119" y="0"/>
                </a:lnTo>
                <a:lnTo>
                  <a:pt x="4071119" y="1043657"/>
                </a:lnTo>
                <a:lnTo>
                  <a:pt x="49619" y="1043657"/>
                </a:lnTo>
                <a:cubicBezTo>
                  <a:pt x="22215" y="1043657"/>
                  <a:pt x="0" y="1021442"/>
                  <a:pt x="0" y="994038"/>
                </a:cubicBezTo>
                <a:lnTo>
                  <a:pt x="0" y="0"/>
                </a:lnTo>
                <a:close/>
              </a:path>
            </a:pathLst>
          </a:custGeom>
          <a:solidFill>
            <a:srgbClr val="C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500881" y="2937346"/>
            <a:ext cx="4071119" cy="19050"/>
          </a:xfrm>
          <a:prstGeom prst="roundRect">
            <a:avLst>
              <a:gd fmla="val 50000" name="adj"/>
            </a:avLst>
          </a:prstGeom>
          <a:solidFill>
            <a:srgbClr val="B2D0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5"/>
          <p:cNvSpPr/>
          <p:nvPr/>
        </p:nvSpPr>
        <p:spPr>
          <a:xfrm>
            <a:off x="642640" y="3079105"/>
            <a:ext cx="357500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inline-block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642640" y="3385617"/>
            <a:ext cx="357500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Não quebra linha, mas aceita dimensões e margens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4572000" y="2937346"/>
            <a:ext cx="4071119" cy="1043657"/>
          </a:xfrm>
          <a:custGeom>
            <a:rect b="b" l="l" r="r" t="t"/>
            <a:pathLst>
              <a:path extrusionOk="0" h="1043657" w="4071119">
                <a:moveTo>
                  <a:pt x="0" y="0"/>
                </a:moveTo>
                <a:lnTo>
                  <a:pt x="4071119" y="0"/>
                </a:lnTo>
                <a:lnTo>
                  <a:pt x="4071119" y="994039"/>
                </a:lnTo>
                <a:cubicBezTo>
                  <a:pt x="4071119" y="1021443"/>
                  <a:pt x="4048904" y="1043658"/>
                  <a:pt x="4021500" y="1043658"/>
                </a:cubicBezTo>
                <a:lnTo>
                  <a:pt x="0" y="1043657"/>
                </a:lnTo>
                <a:lnTo>
                  <a:pt x="0" y="0"/>
                </a:lnTo>
                <a:close/>
              </a:path>
            </a:pathLst>
          </a:custGeom>
          <a:solidFill>
            <a:srgbClr val="C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4572000" y="2937346"/>
            <a:ext cx="19050" cy="1043657"/>
          </a:xfrm>
          <a:prstGeom prst="roundRect">
            <a:avLst>
              <a:gd fmla="val 50000" name="adj"/>
            </a:avLst>
          </a:prstGeom>
          <a:solidFill>
            <a:srgbClr val="B2D0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5"/>
          <p:cNvSpPr/>
          <p:nvPr/>
        </p:nvSpPr>
        <p:spPr>
          <a:xfrm>
            <a:off x="4572000" y="2937346"/>
            <a:ext cx="4071119" cy="19050"/>
          </a:xfrm>
          <a:prstGeom prst="roundRect">
            <a:avLst>
              <a:gd fmla="val 50000" name="adj"/>
            </a:avLst>
          </a:prstGeom>
          <a:solidFill>
            <a:srgbClr val="B2D0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4926360" y="3079105"/>
            <a:ext cx="357500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flex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5"/>
          <p:cNvSpPr/>
          <p:nvPr/>
        </p:nvSpPr>
        <p:spPr>
          <a:xfrm>
            <a:off x="4926360" y="3385617"/>
            <a:ext cx="3575000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Container com controle avançado de alinhamento dos filhos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4394820" y="2235919"/>
            <a:ext cx="354360" cy="354360"/>
          </a:xfrm>
          <a:prstGeom prst="roundRect">
            <a:avLst>
              <a:gd fmla="val 16803" name="adj"/>
            </a:avLst>
          </a:prstGeom>
          <a:solidFill>
            <a:srgbClr val="FFFFFF"/>
          </a:solidFill>
          <a:ln cap="flat" cmpd="sng" w="19050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3373" y="2324472"/>
            <a:ext cx="177180" cy="17718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5"/>
          <p:cNvSpPr/>
          <p:nvPr/>
        </p:nvSpPr>
        <p:spPr>
          <a:xfrm>
            <a:off x="4394820" y="3281958"/>
            <a:ext cx="354360" cy="354360"/>
          </a:xfrm>
          <a:prstGeom prst="roundRect">
            <a:avLst>
              <a:gd fmla="val 16803" name="adj"/>
            </a:avLst>
          </a:prstGeom>
          <a:solidFill>
            <a:srgbClr val="FFFFFF"/>
          </a:solidFill>
          <a:ln cap="flat" cmpd="sng" w="19050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3373" y="3370511"/>
            <a:ext cx="177180" cy="177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"/>
          <p:cNvSpPr/>
          <p:nvPr/>
        </p:nvSpPr>
        <p:spPr>
          <a:xfrm>
            <a:off x="496119" y="719882"/>
            <a:ext cx="8151763" cy="398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500"/>
              <a:buFont typeface="Inter"/>
              <a:buNone/>
            </a:pPr>
            <a:r>
              <a:rPr b="1" i="0" lang="en-US" sz="25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Responsividade &amp; Media Queries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496119" y="1487165"/>
            <a:ext cx="2650778" cy="199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Ponto de partida — viewport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496119" y="1815629"/>
            <a:ext cx="2650778" cy="867668"/>
          </a:xfrm>
          <a:prstGeom prst="roundRect">
            <a:avLst>
              <a:gd fmla="val 6176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"/>
          <p:cNvSpPr/>
          <p:nvPr/>
        </p:nvSpPr>
        <p:spPr>
          <a:xfrm>
            <a:off x="649188" y="1943174"/>
            <a:ext cx="2344638" cy="612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&lt;meta name="viewport"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content="width=device-width,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       initial-scale=1.0"&gt;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6"/>
          <p:cNvSpPr/>
          <p:nvPr/>
        </p:nvSpPr>
        <p:spPr>
          <a:xfrm>
            <a:off x="496119" y="2812479"/>
            <a:ext cx="2650778" cy="199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Media query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6"/>
          <p:cNvSpPr/>
          <p:nvPr/>
        </p:nvSpPr>
        <p:spPr>
          <a:xfrm>
            <a:off x="496119" y="3140943"/>
            <a:ext cx="2650778" cy="1071860"/>
          </a:xfrm>
          <a:prstGeom prst="roundRect">
            <a:avLst>
              <a:gd fmla="val 50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"/>
          <p:cNvSpPr/>
          <p:nvPr/>
        </p:nvSpPr>
        <p:spPr>
          <a:xfrm>
            <a:off x="649188" y="3268489"/>
            <a:ext cx="2344638" cy="816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/* aplica quando tela ≤ 768px */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@media (max-width: 768px)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body { background: lightblue;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3462858" y="1405607"/>
            <a:ext cx="5189711" cy="199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Mobile First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1" name="Google Shape;2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4527" y="1734071"/>
            <a:ext cx="3486373" cy="2069157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6"/>
          <p:cNvSpPr/>
          <p:nvPr/>
        </p:nvSpPr>
        <p:spPr>
          <a:xfrm>
            <a:off x="6741090" y="3239803"/>
            <a:ext cx="866626" cy="33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Desktop ≥1024px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5648904" y="3239803"/>
            <a:ext cx="866626" cy="33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Tablet ≥768px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4538910" y="3239803"/>
            <a:ext cx="866626" cy="33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Base (mobile)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3462858" y="3932411"/>
            <a:ext cx="5189711" cy="387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Escreva primeiro para telas pequenas; adicione breakpoints com </a:t>
            </a:r>
            <a:r>
              <a:rPr b="0" i="0" lang="en-US" sz="10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min-width</a:t>
            </a:r>
            <a:r>
              <a:rPr b="0" i="0" lang="en-US" sz="10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progressivamente.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"/>
          <p:cNvSpPr/>
          <p:nvPr/>
        </p:nvSpPr>
        <p:spPr>
          <a:xfrm>
            <a:off x="496119" y="1031900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JS Reativo — O Traço do Frontend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496119" y="1687488"/>
            <a:ext cx="8151763" cy="611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3850"/>
              <a:buFont typeface="Inter"/>
              <a:buNone/>
            </a:pPr>
            <a:r>
              <a:rPr b="1" i="0" lang="en-US" sz="38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Orientado a Eventos</a:t>
            </a:r>
            <a:endParaRPr b="0" i="0" sz="3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/>
          <p:nvPr/>
        </p:nvSpPr>
        <p:spPr>
          <a:xfrm>
            <a:off x="267519" y="2511475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Não é só manipular o DOM — é </a:t>
            </a:r>
            <a:r>
              <a:rPr b="1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reagir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ao que o usuário faz.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4" name="Google Shape;2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897758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7"/>
          <p:cNvSpPr/>
          <p:nvPr/>
        </p:nvSpPr>
        <p:spPr>
          <a:xfrm>
            <a:off x="1027658" y="2897758"/>
            <a:ext cx="206759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Evento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1027658" y="3204270"/>
            <a:ext cx="2067595" cy="689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Ação do usuário ou do navegador: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click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submit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7" name="Google Shape;2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2433" y="2897758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7"/>
          <p:cNvSpPr/>
          <p:nvPr/>
        </p:nvSpPr>
        <p:spPr>
          <a:xfrm>
            <a:off x="3803972" y="2897758"/>
            <a:ext cx="206759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Listener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3803972" y="3204270"/>
            <a:ext cx="2067595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Função </a:t>
            </a:r>
            <a:r>
              <a:rPr b="1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callback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registrada para ser chamada automaticamente quando o evento ocorre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0" name="Google Shape;24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8747" y="2897758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7"/>
          <p:cNvSpPr/>
          <p:nvPr/>
        </p:nvSpPr>
        <p:spPr>
          <a:xfrm>
            <a:off x="6580287" y="2897758"/>
            <a:ext cx="206759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Propagação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6580287" y="3204270"/>
            <a:ext cx="2067595" cy="685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evento sobe pela árvore (bubbling) —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stopPropagation()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interrompe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"/>
          <p:cNvSpPr/>
          <p:nvPr/>
        </p:nvSpPr>
        <p:spPr>
          <a:xfrm>
            <a:off x="496119" y="466204"/>
            <a:ext cx="8151763" cy="376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350"/>
              <a:buFont typeface="Inter"/>
              <a:buNone/>
            </a:pPr>
            <a:r>
              <a:rPr b="1" i="0" lang="en-US" sz="2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addEventListener — na Prática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496119" y="1111523"/>
            <a:ext cx="4351139" cy="3131939"/>
          </a:xfrm>
          <a:prstGeom prst="roundRect">
            <a:avLst>
              <a:gd fmla="val 1616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8"/>
          <p:cNvSpPr/>
          <p:nvPr/>
        </p:nvSpPr>
        <p:spPr>
          <a:xfrm>
            <a:off x="640705" y="1231999"/>
            <a:ext cx="4061966" cy="2890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container.addEventListener("click", function(event) {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// onde o clique ocorreu (pode ser filho)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console.log("target:", event.target);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// onde o listener está registrado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console.log("currentTarget:", event.currentTarget);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// sobe até achar o elemento clicável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const item = event.target.closest(".item");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// impede propagação para os pais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event.stopPropagation();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1" name="Google Shape;2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5956" y="1111523"/>
            <a:ext cx="3506614" cy="1081906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8"/>
          <p:cNvSpPr/>
          <p:nvPr/>
        </p:nvSpPr>
        <p:spPr>
          <a:xfrm>
            <a:off x="6808887" y="1191220"/>
            <a:ext cx="180752" cy="225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5280720" y="1589708"/>
            <a:ext cx="3237086" cy="188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event.target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5280720" y="1880369"/>
            <a:ext cx="3237086" cy="178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Onde o clique de fato aconteceu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5" name="Google Shape;2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5956" y="2295823"/>
            <a:ext cx="3506614" cy="1081906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8"/>
          <p:cNvSpPr/>
          <p:nvPr/>
        </p:nvSpPr>
        <p:spPr>
          <a:xfrm>
            <a:off x="6808887" y="2375520"/>
            <a:ext cx="180752" cy="225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5280720" y="2774007"/>
            <a:ext cx="3237086" cy="188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event.currentTarget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5280720" y="3064669"/>
            <a:ext cx="3237086" cy="178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Onde o listener foi registrado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9" name="Google Shape;2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5956" y="3480122"/>
            <a:ext cx="3506614" cy="108190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8"/>
          <p:cNvSpPr/>
          <p:nvPr/>
        </p:nvSpPr>
        <p:spPr>
          <a:xfrm>
            <a:off x="6808887" y="3559820"/>
            <a:ext cx="180752" cy="225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5280720" y="3958307"/>
            <a:ext cx="3237086" cy="188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stopPropagation()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8"/>
          <p:cNvSpPr/>
          <p:nvPr/>
        </p:nvSpPr>
        <p:spPr>
          <a:xfrm>
            <a:off x="5280720" y="4248969"/>
            <a:ext cx="3237086" cy="178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Bloqueia o bubbling na árvore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9"/>
          <p:cNvSpPr/>
          <p:nvPr/>
        </p:nvSpPr>
        <p:spPr>
          <a:xfrm>
            <a:off x="496119" y="596950"/>
            <a:ext cx="8151763" cy="895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750"/>
              <a:buFont typeface="Consolas"/>
              <a:buNone/>
            </a:pPr>
            <a:r>
              <a:rPr b="1" i="0" lang="en-US" sz="2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type="module"</a:t>
            </a:r>
            <a:r>
              <a:rPr b="1" i="0" lang="en-US" sz="2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— Scripts em Múltiplos Arquivos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94022" y="1705049"/>
            <a:ext cx="3257327" cy="2841427"/>
          </a:xfrm>
          <a:prstGeom prst="roundRect">
            <a:avLst>
              <a:gd fmla="val 3592" name="adj"/>
            </a:avLst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9"/>
          <p:cNvSpPr/>
          <p:nvPr/>
        </p:nvSpPr>
        <p:spPr>
          <a:xfrm>
            <a:off x="535781" y="1846808"/>
            <a:ext cx="2973809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Por que usar?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535781" y="2210023"/>
            <a:ext cx="2973809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Scripts de frontend crescem. Separar em arquivos é inevitável.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535781" y="2823121"/>
            <a:ext cx="2973809" cy="1190774"/>
          </a:xfrm>
          <a:prstGeom prst="roundRect">
            <a:avLst>
              <a:gd fmla="val 5000" name="adj"/>
            </a:avLst>
          </a:prstGeom>
          <a:solidFill>
            <a:srgbClr val="0D43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705892" y="2964879"/>
            <a:ext cx="2633588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&lt;script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type="module"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src="./app.js"&gt;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&lt;/script&gt;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3899892" y="1846808"/>
            <a:ext cx="475267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que muda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3899892" y="2210023"/>
            <a:ext cx="4752677" cy="1237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700">
            <a:noAutofit/>
          </a:bodyPr>
          <a:lstStyle/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Habilita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/ </a:t>
            </a:r>
            <a:r>
              <a:rPr b="0" i="0" lang="en-US" sz="11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export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nativos no navegador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Cada arquivo tem escopo próprio — sem poluição de variáveis globais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Não é o momento de aprofundar em módulos — apenas justificar o hábito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3899892" y="3607445"/>
            <a:ext cx="4752677" cy="779562"/>
          </a:xfrm>
          <a:prstGeom prst="roundRect">
            <a:avLst>
              <a:gd fmla="val 7638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7" name="Google Shape;2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1651" y="3822502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9"/>
          <p:cNvSpPr/>
          <p:nvPr/>
        </p:nvSpPr>
        <p:spPr>
          <a:xfrm>
            <a:off x="4360590" y="3770412"/>
            <a:ext cx="4150221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Um único script inline vai deixar de ser suficiente conforme o projeto cresce.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"/>
          <p:cNvSpPr/>
          <p:nvPr/>
        </p:nvSpPr>
        <p:spPr>
          <a:xfrm>
            <a:off x="496119" y="490538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CSS como Commodity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496119" y="1287884"/>
            <a:ext cx="3902943" cy="1834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4B2D8"/>
              </a:buClr>
              <a:buSzPts val="3850"/>
              <a:buFont typeface="Inter"/>
              <a:buNone/>
            </a:pPr>
            <a:r>
              <a:rPr b="1" i="0" lang="en-US" sz="3850" u="none" cap="none" strike="noStrike">
                <a:solidFill>
                  <a:srgbClr val="64B2D8"/>
                </a:solidFill>
                <a:latin typeface="Inter"/>
                <a:ea typeface="Inter"/>
                <a:cs typeface="Inter"/>
                <a:sym typeface="Inter"/>
              </a:rPr>
              <a:t>CSS puro</a:t>
            </a:r>
            <a:r>
              <a:rPr b="1" i="0" lang="en-US" sz="38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é base, não diferencial</a:t>
            </a:r>
            <a:endParaRPr b="0" i="0" sz="3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496119" y="3263801"/>
            <a:ext cx="3902943" cy="1261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Bootstrap, Tailwind e outros frameworks entregam classes prontas para os problemas mais comuns de layout, espaçamento e componente.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valor está em </a:t>
            </a:r>
            <a:r>
              <a:rPr b="1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entender o que essas classes fazem por debaixo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— não em reescrever do zero.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7" name="Google Shape;2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0651" y="1286545"/>
            <a:ext cx="1881932" cy="1081757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0"/>
          <p:cNvSpPr/>
          <p:nvPr/>
        </p:nvSpPr>
        <p:spPr>
          <a:xfrm>
            <a:off x="4929560" y="1305595"/>
            <a:ext cx="168302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CSS Manual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4929560" y="1668810"/>
            <a:ext cx="1683023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Essencial para entender seletores, display, cascata e especificidade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0" name="Google Shape;2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0712" y="1286545"/>
            <a:ext cx="1881932" cy="108175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0"/>
          <p:cNvSpPr/>
          <p:nvPr/>
        </p:nvSpPr>
        <p:spPr>
          <a:xfrm>
            <a:off x="6969621" y="1305595"/>
            <a:ext cx="168302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Frameworks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6969621" y="1668810"/>
            <a:ext cx="1683023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Bootstrap e Tailwind resolvem estilização repetitiva em produção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3" name="Google Shape;29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0651" y="2613720"/>
            <a:ext cx="3921993" cy="854943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0"/>
          <p:cNvSpPr/>
          <p:nvPr/>
        </p:nvSpPr>
        <p:spPr>
          <a:xfrm>
            <a:off x="4929560" y="2632770"/>
            <a:ext cx="3723084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Equilíbrio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4929560" y="2995985"/>
            <a:ext cx="372308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Quem entende a base usa frameworks com consciência, não como caixa-preta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1"/>
          <p:cNvSpPr/>
          <p:nvPr/>
        </p:nvSpPr>
        <p:spPr>
          <a:xfrm>
            <a:off x="496119" y="567779"/>
            <a:ext cx="8151763" cy="332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050"/>
              <a:buFont typeface="Inter"/>
              <a:buNone/>
            </a:pPr>
            <a:r>
              <a:rPr b="1" i="0" lang="en-US" sz="20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Referência Rápida — API do DOM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496119" y="1059507"/>
            <a:ext cx="8151763" cy="3516213"/>
          </a:xfrm>
          <a:prstGeom prst="roundRect">
            <a:avLst>
              <a:gd fmla="val 1270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1"/>
          <p:cNvSpPr/>
          <p:nvPr/>
        </p:nvSpPr>
        <p:spPr>
          <a:xfrm>
            <a:off x="496119" y="1320552"/>
            <a:ext cx="8151763" cy="664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1"/>
          <p:cNvSpPr/>
          <p:nvPr/>
        </p:nvSpPr>
        <p:spPr>
          <a:xfrm>
            <a:off x="496119" y="1579215"/>
            <a:ext cx="8151763" cy="664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1"/>
          <p:cNvSpPr/>
          <p:nvPr/>
        </p:nvSpPr>
        <p:spPr>
          <a:xfrm>
            <a:off x="496119" y="1986707"/>
            <a:ext cx="8151763" cy="664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1"/>
          <p:cNvSpPr/>
          <p:nvPr/>
        </p:nvSpPr>
        <p:spPr>
          <a:xfrm>
            <a:off x="496119" y="2245370"/>
            <a:ext cx="8151763" cy="664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1"/>
          <p:cNvSpPr/>
          <p:nvPr/>
        </p:nvSpPr>
        <p:spPr>
          <a:xfrm>
            <a:off x="496119" y="2504033"/>
            <a:ext cx="8151763" cy="664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1"/>
          <p:cNvSpPr/>
          <p:nvPr/>
        </p:nvSpPr>
        <p:spPr>
          <a:xfrm>
            <a:off x="496119" y="2762696"/>
            <a:ext cx="8151763" cy="664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1"/>
          <p:cNvSpPr/>
          <p:nvPr/>
        </p:nvSpPr>
        <p:spPr>
          <a:xfrm>
            <a:off x="496119" y="3021360"/>
            <a:ext cx="8151763" cy="664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"/>
          <p:cNvSpPr/>
          <p:nvPr/>
        </p:nvSpPr>
        <p:spPr>
          <a:xfrm>
            <a:off x="496119" y="3280023"/>
            <a:ext cx="8151763" cy="664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1"/>
          <p:cNvSpPr/>
          <p:nvPr/>
        </p:nvSpPr>
        <p:spPr>
          <a:xfrm>
            <a:off x="496119" y="3538686"/>
            <a:ext cx="8151763" cy="664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1"/>
          <p:cNvSpPr/>
          <p:nvPr/>
        </p:nvSpPr>
        <p:spPr>
          <a:xfrm>
            <a:off x="496119" y="3797350"/>
            <a:ext cx="8151763" cy="664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1"/>
          <p:cNvSpPr/>
          <p:nvPr/>
        </p:nvSpPr>
        <p:spPr>
          <a:xfrm>
            <a:off x="496119" y="4056013"/>
            <a:ext cx="8151763" cy="664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1"/>
          <p:cNvSpPr/>
          <p:nvPr/>
        </p:nvSpPr>
        <p:spPr>
          <a:xfrm>
            <a:off x="496119" y="4314676"/>
            <a:ext cx="8151763" cy="664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1"/>
          <p:cNvSpPr/>
          <p:nvPr/>
        </p:nvSpPr>
        <p:spPr>
          <a:xfrm>
            <a:off x="500955" y="1064270"/>
            <a:ext cx="2279824" cy="256282"/>
          </a:xfrm>
          <a:custGeom>
            <a:rect b="b" l="l" r="r" t="t"/>
            <a:pathLst>
              <a:path extrusionOk="0" h="256282" w="2279824">
                <a:moveTo>
                  <a:pt x="37214" y="0"/>
                </a:moveTo>
                <a:lnTo>
                  <a:pt x="2279824" y="0"/>
                </a:lnTo>
                <a:lnTo>
                  <a:pt x="2279824" y="256282"/>
                </a:lnTo>
                <a:lnTo>
                  <a:pt x="0" y="256282"/>
                </a:lnTo>
                <a:lnTo>
                  <a:pt x="0" y="37214"/>
                </a:lnTo>
                <a:cubicBezTo>
                  <a:pt x="0" y="16661"/>
                  <a:pt x="16661" y="0"/>
                  <a:pt x="37214" y="0"/>
                </a:cubicBezTo>
                <a:close/>
              </a:path>
            </a:pathLst>
          </a:cu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607219" y="1116806"/>
            <a:ext cx="252449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Método / Propriedade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2780779" y="1064270"/>
            <a:ext cx="3093988" cy="256282"/>
          </a:xfrm>
          <a:prstGeom prst="rect">
            <a:avLst/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1"/>
          <p:cNvSpPr/>
          <p:nvPr/>
        </p:nvSpPr>
        <p:spPr>
          <a:xfrm>
            <a:off x="2887042" y="1116806"/>
            <a:ext cx="3338661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 que faz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5874767" y="1064270"/>
            <a:ext cx="2768352" cy="256282"/>
          </a:xfrm>
          <a:custGeom>
            <a:rect b="b" l="l" r="r" t="t"/>
            <a:pathLst>
              <a:path extrusionOk="0" h="256282" w="2768352">
                <a:moveTo>
                  <a:pt x="0" y="0"/>
                </a:moveTo>
                <a:lnTo>
                  <a:pt x="2731138" y="0"/>
                </a:lnTo>
                <a:cubicBezTo>
                  <a:pt x="2741008" y="0"/>
                  <a:pt x="2750473" y="3921"/>
                  <a:pt x="2757452" y="10900"/>
                </a:cubicBezTo>
                <a:cubicBezTo>
                  <a:pt x="2764431" y="17879"/>
                  <a:pt x="2768352" y="27344"/>
                  <a:pt x="2768352" y="37214"/>
                </a:cubicBezTo>
                <a:lnTo>
                  <a:pt x="2768352" y="256282"/>
                </a:lnTo>
                <a:lnTo>
                  <a:pt x="0" y="256282"/>
                </a:lnTo>
                <a:lnTo>
                  <a:pt x="0" y="0"/>
                </a:lnTo>
                <a:close/>
              </a:path>
            </a:pathLst>
          </a:cu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1"/>
          <p:cNvSpPr/>
          <p:nvPr/>
        </p:nvSpPr>
        <p:spPr>
          <a:xfrm>
            <a:off x="5981030" y="1116806"/>
            <a:ext cx="3013025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Retorno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607219" y="1375470"/>
            <a:ext cx="252449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querySelector(sel)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2887042" y="1375470"/>
            <a:ext cx="3338661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Primeiro elemento que casa com o seletor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5981030" y="1375470"/>
            <a:ext cx="3013025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Element | null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607219" y="1634133"/>
            <a:ext cx="252449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querySelectorAll(sel)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2887042" y="1634133"/>
            <a:ext cx="2881461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Todos os elementos que casam — </a:t>
            </a:r>
            <a:r>
              <a:rPr b="1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NodeList</a:t>
            </a: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(coleção de Elements, não é array)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5981030" y="1634133"/>
            <a:ext cx="3013025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NodeList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607219" y="2041624"/>
            <a:ext cx="252449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classList.add(cls)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2887042" y="2041624"/>
            <a:ext cx="3338661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Adiciona uma ou mais classes ao elemento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"/>
          <p:cNvSpPr/>
          <p:nvPr/>
        </p:nvSpPr>
        <p:spPr>
          <a:xfrm>
            <a:off x="5981030" y="2041624"/>
            <a:ext cx="3013025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undefined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1"/>
          <p:cNvSpPr/>
          <p:nvPr/>
        </p:nvSpPr>
        <p:spPr>
          <a:xfrm>
            <a:off x="607219" y="2300288"/>
            <a:ext cx="252449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classList.remove(cls)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2887042" y="2300288"/>
            <a:ext cx="3338661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Remove uma classe do elemento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5981030" y="2300288"/>
            <a:ext cx="3013025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undefined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607219" y="2558951"/>
            <a:ext cx="252449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classList.toggle(cls)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2887042" y="2558951"/>
            <a:ext cx="3338661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Adiciona se não existe, remove se existe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5981030" y="2558951"/>
            <a:ext cx="3013025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607219" y="2817614"/>
            <a:ext cx="252449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classList.contains(cls)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2887042" y="2817614"/>
            <a:ext cx="3338661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Verifica se o elemento possui a classe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5981030" y="2817614"/>
            <a:ext cx="3013025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607219" y="3076277"/>
            <a:ext cx="252449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element.remove()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2887042" y="3076277"/>
            <a:ext cx="3338661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Remove o elemento do DOM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5981030" y="3076277"/>
            <a:ext cx="3013025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undefined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1"/>
          <p:cNvSpPr/>
          <p:nvPr/>
        </p:nvSpPr>
        <p:spPr>
          <a:xfrm>
            <a:off x="607219" y="3334941"/>
            <a:ext cx="252449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parentElement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2887042" y="3334941"/>
            <a:ext cx="3338661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Elemento pai na árvore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5981030" y="3334941"/>
            <a:ext cx="3013025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Element | null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607219" y="3593604"/>
            <a:ext cx="252449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closest(sel)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/>
          <p:nvPr/>
        </p:nvSpPr>
        <p:spPr>
          <a:xfrm>
            <a:off x="2887042" y="3593604"/>
            <a:ext cx="3338661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Sobe a árvore até achar ancestral que casa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5981030" y="3593604"/>
            <a:ext cx="3013025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Element | null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607219" y="3852267"/>
            <a:ext cx="252449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children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2887042" y="3852267"/>
            <a:ext cx="3338661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Filhos diretos (ignora nós de texto)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5981030" y="3852267"/>
            <a:ext cx="3013025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HTMLCollection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607219" y="4110930"/>
            <a:ext cx="252449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firstElementChild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2887042" y="4110930"/>
            <a:ext cx="3338661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Primeiro filho elemento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5981030" y="4110930"/>
            <a:ext cx="3013025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Element | null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1"/>
          <p:cNvSpPr/>
          <p:nvPr/>
        </p:nvSpPr>
        <p:spPr>
          <a:xfrm>
            <a:off x="607219" y="4369594"/>
            <a:ext cx="2524497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lastElementChild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2887042" y="4369594"/>
            <a:ext cx="3338661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Último filho elemento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5981030" y="4369594"/>
            <a:ext cx="3013025" cy="14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Element | null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