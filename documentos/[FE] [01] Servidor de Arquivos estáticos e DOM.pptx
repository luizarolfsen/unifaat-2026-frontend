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1675"/>
  <p:notesSz cx="6858000" cy="12191675"/>
  <p:embeddedFontLst>
    <p:embeddedFont>
      <p:font typeface="Inter Light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InterLight-bold.fntdata"/><Relationship Id="rId21" Type="http://schemas.openxmlformats.org/officeDocument/2006/relationships/font" Target="fonts/InterLight-regular.fntdata"/><Relationship Id="rId24" Type="http://schemas.openxmlformats.org/officeDocument/2006/relationships/font" Target="fonts/InterLight-boldItalic.fntdata"/><Relationship Id="rId23" Type="http://schemas.openxmlformats.org/officeDocument/2006/relationships/font" Target="fonts/Inter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f73580b722_0_0:notes"/>
          <p:cNvSpPr txBox="1"/>
          <p:nvPr>
            <p:ph idx="1" type="body"/>
          </p:nvPr>
        </p:nvSpPr>
        <p:spPr>
          <a:xfrm>
            <a:off x="685800" y="5867244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g3f73580b722_0_0:notes"/>
          <p:cNvSpPr/>
          <p:nvPr>
            <p:ph idx="2" type="sldImg"/>
          </p:nvPr>
        </p:nvSpPr>
        <p:spPr>
          <a:xfrm>
            <a:off x="685873" y="1523959"/>
            <a:ext cx="5486400" cy="41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73580b722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3f73580b722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f73580b722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73580b722_0_59:notes"/>
          <p:cNvSpPr/>
          <p:nvPr>
            <p:ph idx="2" type="sldImg"/>
          </p:nvPr>
        </p:nvSpPr>
        <p:spPr>
          <a:xfrm>
            <a:off x="571561" y="952475"/>
            <a:ext cx="4572000" cy="25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0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g3f73580b722_0_59:notes"/>
          <p:cNvSpPr txBox="1"/>
          <p:nvPr>
            <p:ph idx="1" type="body"/>
          </p:nvPr>
        </p:nvSpPr>
        <p:spPr>
          <a:xfrm>
            <a:off x="571500" y="3667027"/>
            <a:ext cx="4572000" cy="30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075" lIns="76175" spcFirstLastPara="1" rIns="76175" wrap="square" tIns="3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f73580b722_0_59:notes"/>
          <p:cNvSpPr txBox="1"/>
          <p:nvPr>
            <p:ph idx="12" type="sldNum"/>
          </p:nvPr>
        </p:nvSpPr>
        <p:spPr>
          <a:xfrm>
            <a:off x="3237178" y="7237485"/>
            <a:ext cx="2476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b" bIns="38075" lIns="76175" spcFirstLastPara="1" rIns="76175" wrap="square" tIns="380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73580b722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f73580b722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f73580b722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76175" lIns="76175" spcFirstLastPara="1" rIns="761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luan-tavares/unifaat-frontend-bimestre-01" TargetMode="External"/><Relationship Id="rId4" Type="http://schemas.openxmlformats.org/officeDocument/2006/relationships/hyperlink" Target="https://docs.google.com/forms/d/e/1FAIpQLScaZga2FaqkJQrMD6Ohx1a1Wrz-8cScR8_F0ubu4dE2eaTnPw/viewform?usp=publish-editor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74" cy="685781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/>
        </p:nvSpPr>
        <p:spPr>
          <a:xfrm>
            <a:off x="48706" y="4442380"/>
            <a:ext cx="78540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2026.2 - 4º Semestre - Frontend</a:t>
            </a:r>
            <a:endParaRPr b="1" sz="2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Aula 01 - Servidor de Arquivos est</a:t>
            </a:r>
            <a:r>
              <a:rPr b="1" lang="en-US" sz="2500">
                <a:solidFill>
                  <a:schemeClr val="lt1"/>
                </a:solidFill>
              </a:rPr>
              <a:t>áticos e DOM</a:t>
            </a:r>
            <a:br>
              <a:rPr b="1" lang="en-US" sz="2500">
                <a:solidFill>
                  <a:schemeClr val="lt1"/>
                </a:solidFill>
              </a:rPr>
            </a:br>
            <a:r>
              <a:rPr b="1" lang="en-US" sz="2000">
                <a:solidFill>
                  <a:schemeClr val="lt1"/>
                </a:solidFill>
              </a:rPr>
              <a:t>Professor Luan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9325" y="943400"/>
            <a:ext cx="6743700" cy="51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661474" y="191598"/>
            <a:ext cx="9369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700"/>
              <a:buFont typeface="Inter"/>
              <a:buNone/>
            </a:pPr>
            <a:r>
              <a:rPr b="1" lang="en-US" sz="3700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Avisos/Disclaimers</a:t>
            </a:r>
            <a:endParaRPr b="0" i="0" sz="3700" u="none" cap="none" strike="noStrike"/>
          </a:p>
        </p:txBody>
      </p:sp>
      <p:sp>
        <p:nvSpPr>
          <p:cNvPr id="35" name="Google Shape;35;p7"/>
          <p:cNvSpPr/>
          <p:nvPr/>
        </p:nvSpPr>
        <p:spPr>
          <a:xfrm>
            <a:off x="661475" y="1211951"/>
            <a:ext cx="10868700" cy="4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2794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</a:pPr>
            <a:r>
              <a:rPr lang="en-U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Meta-aprendizagem (Aprendendo a aprender)</a:t>
            </a:r>
            <a:endParaRPr sz="1800">
              <a:solidFill>
                <a:schemeClr val="dk1"/>
              </a:solidFill>
            </a:endParaRPr>
          </a:p>
          <a:p>
            <a:pPr indent="-304800" lvl="0" marL="2794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NÃO É UM CURSO DE HTML,CSS</a:t>
            </a:r>
            <a:endParaRPr sz="1800">
              <a:solidFill>
                <a:schemeClr val="dk1"/>
              </a:solidFill>
            </a:endParaRPr>
          </a:p>
          <a:p>
            <a:pPr indent="-304800" lvl="0" marL="2794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Usem IA com uma base sólida!</a:t>
            </a:r>
            <a:endParaRPr sz="1800">
              <a:solidFill>
                <a:schemeClr val="dk1"/>
              </a:solidFill>
            </a:endParaRPr>
          </a:p>
          <a:p>
            <a:pPr indent="-304800" lvl="0" marL="2794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</a:pPr>
            <a:r>
              <a:rPr lang="en-U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 prova teórica e 1 prova prática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2794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</a:pPr>
            <a:r>
              <a:rPr lang="en-U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Continuidade direta de Desenvolvimento Web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2794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</a:pPr>
            <a:r>
              <a:rPr lang="en-U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Professor também disponível fora do horário de aula (chama no zap)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2794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</a:pPr>
            <a:r>
              <a:rPr lang="en-U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Ser</a:t>
            </a:r>
            <a:r>
              <a:rPr lang="en-U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á mais prático que Desenvolvimento Web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2794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</a:pPr>
            <a:r>
              <a:rPr lang="en-U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Carga horária reduzida devido aos feriados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2794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•"/>
            </a:pPr>
            <a:r>
              <a:rPr lang="en-US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Organização de slides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2029321" y="5492000"/>
            <a:ext cx="7323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76175" spcFirstLastPara="1" rIns="76175" wrap="square" tIns="76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Favor, conversa paralela fora da sala!</a:t>
            </a:r>
            <a:endParaRPr b="1"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/>
              <a:t>Bora lá!</a:t>
            </a:r>
            <a:endParaRPr b="1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/>
        </p:nvSpPr>
        <p:spPr>
          <a:xfrm>
            <a:off x="1020375" y="2127800"/>
            <a:ext cx="10771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Reposit</a:t>
            </a:r>
            <a:r>
              <a:rPr b="1" lang="en-US"/>
              <a:t>ório:</a:t>
            </a:r>
            <a:br>
              <a:rPr lang="en-US"/>
            </a:b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3"/>
              </a:rPr>
              <a:t>https://github.com/luan-tavares/unifaat-frontend-bimestre-01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TF:</a:t>
            </a:r>
            <a:br>
              <a:rPr lang="en-US"/>
            </a:br>
            <a:r>
              <a:rPr lang="en-US" u="sng">
                <a:solidFill>
                  <a:schemeClr val="hlink"/>
                </a:solidFill>
                <a:hlinkClick r:id="rId4"/>
              </a:rPr>
              <a:t>https://docs.google.com/forms/d/e/1FAIpQLScaZga2FaqkJQrMD6Ohx1a1Wrz-8cScR8_F0ubu4dE2eaTnPw/viewform?usp=publish-editor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661475" y="1396107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que é Frontend?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525350" y="2270224"/>
            <a:ext cx="5476043" cy="2223095"/>
          </a:xfrm>
          <a:prstGeom prst="roundRect">
            <a:avLst>
              <a:gd fmla="val 6122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714357" y="2459236"/>
            <a:ext cx="509802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Processamento no client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9"/>
          <p:cNvSpPr/>
          <p:nvPr/>
        </p:nvSpPr>
        <p:spPr>
          <a:xfrm>
            <a:off x="714357" y="2943523"/>
            <a:ext cx="5098029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Tudo que gera a GUI — montar tela, reagir a cliques, atualizar o que o usuário vê — acontece </a:t>
            </a:r>
            <a:r>
              <a:rPr b="1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navegador</a:t>
            </a: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não no servidor.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9"/>
          <p:cNvSpPr/>
          <p:nvPr/>
        </p:nvSpPr>
        <p:spPr>
          <a:xfrm>
            <a:off x="6332776" y="2459236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Frontend não existe sozinho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9"/>
          <p:cNvSpPr/>
          <p:nvPr/>
        </p:nvSpPr>
        <p:spPr>
          <a:xfrm>
            <a:off x="6332776" y="2943523"/>
            <a:ext cx="5203794" cy="1379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Depende diretamente do backend dentro da arquitetura </a:t>
            </a:r>
            <a:r>
              <a:rPr b="1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client/server</a:t>
            </a: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30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frontend só existe porque antes houve uma requisição, uma resposta, e um servidor.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9"/>
          <p:cNvSpPr/>
          <p:nvPr/>
        </p:nvSpPr>
        <p:spPr>
          <a:xfrm>
            <a:off x="661475" y="4705945"/>
            <a:ext cx="10868745" cy="755948"/>
          </a:xfrm>
          <a:prstGeom prst="roundRect">
            <a:avLst>
              <a:gd fmla="val 10502" name="adj"/>
            </a:avLst>
          </a:pr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482" y="4973638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9"/>
          <p:cNvSpPr/>
          <p:nvPr/>
        </p:nvSpPr>
        <p:spPr>
          <a:xfrm>
            <a:off x="1275723" y="4942185"/>
            <a:ext cx="1067507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objetivo do curso é trabalhar com </a:t>
            </a:r>
            <a:r>
              <a:rPr b="1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projetos reais</a:t>
            </a: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entendendo o frontend como peça de um sistema maior.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661475" y="1666081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Conteúdo Dinâmico vs. Estático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0"/>
          <p:cNvSpPr/>
          <p:nvPr/>
        </p:nvSpPr>
        <p:spPr>
          <a:xfrm>
            <a:off x="661475" y="2634754"/>
            <a:ext cx="10868745" cy="2557066"/>
          </a:xfrm>
          <a:prstGeom prst="roundRect">
            <a:avLst>
              <a:gd fmla="val 3105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0"/>
          <p:cNvSpPr/>
          <p:nvPr/>
        </p:nvSpPr>
        <p:spPr>
          <a:xfrm>
            <a:off x="667825" y="2641104"/>
            <a:ext cx="5428023" cy="2544366"/>
          </a:xfrm>
          <a:custGeom>
            <a:rect b="b" l="l" r="r" t="t"/>
            <a:pathLst>
              <a:path extrusionOk="0" h="2544366" w="5428023">
                <a:moveTo>
                  <a:pt x="66156" y="0"/>
                </a:moveTo>
                <a:lnTo>
                  <a:pt x="5428023" y="0"/>
                </a:lnTo>
                <a:lnTo>
                  <a:pt x="5428023" y="2544366"/>
                </a:lnTo>
                <a:lnTo>
                  <a:pt x="66156" y="2544366"/>
                </a:lnTo>
                <a:cubicBezTo>
                  <a:pt x="29619" y="2544366"/>
                  <a:pt x="0" y="2514746"/>
                  <a:pt x="0" y="2478208"/>
                </a:cubicBezTo>
                <a:lnTo>
                  <a:pt x="0" y="66158"/>
                </a:lnTo>
                <a:cubicBezTo>
                  <a:pt x="0" y="29620"/>
                  <a:pt x="29619" y="0"/>
                  <a:pt x="66156" y="0"/>
                </a:cubicBezTo>
                <a:close/>
              </a:path>
            </a:pathLst>
          </a:cu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0"/>
          <p:cNvSpPr/>
          <p:nvPr/>
        </p:nvSpPr>
        <p:spPr>
          <a:xfrm>
            <a:off x="856832" y="2830116"/>
            <a:ext cx="505000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Dinâmico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0"/>
          <p:cNvSpPr/>
          <p:nvPr/>
        </p:nvSpPr>
        <p:spPr>
          <a:xfrm>
            <a:off x="856832" y="3238798"/>
            <a:ext cx="5050009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Gerado </a:t>
            </a:r>
            <a:r>
              <a:rPr b="1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sob demanda</a:t>
            </a: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na requisição. Não existe como arquivo pronto.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>
            <a:off x="856832" y="3957042"/>
            <a:ext cx="5050009" cy="1039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Processado pelo backend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Dados variáveis a cada requisição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HTML, JSON, CSS gerados na hora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0"/>
          <p:cNvSpPr/>
          <p:nvPr/>
        </p:nvSpPr>
        <p:spPr>
          <a:xfrm>
            <a:off x="6095848" y="2641104"/>
            <a:ext cx="5428023" cy="2544366"/>
          </a:xfrm>
          <a:custGeom>
            <a:rect b="b" l="l" r="r" t="t"/>
            <a:pathLst>
              <a:path extrusionOk="0" h="2544366" w="5428023">
                <a:moveTo>
                  <a:pt x="0" y="0"/>
                </a:moveTo>
                <a:lnTo>
                  <a:pt x="5361866" y="0"/>
                </a:lnTo>
                <a:cubicBezTo>
                  <a:pt x="5379412" y="0"/>
                  <a:pt x="5396239" y="6970"/>
                  <a:pt x="5408645" y="19377"/>
                </a:cubicBezTo>
                <a:cubicBezTo>
                  <a:pt x="5421052" y="31784"/>
                  <a:pt x="5428022" y="48612"/>
                  <a:pt x="5428022" y="66158"/>
                </a:cubicBezTo>
                <a:lnTo>
                  <a:pt x="5428023" y="2478208"/>
                </a:lnTo>
                <a:cubicBezTo>
                  <a:pt x="5428023" y="2514746"/>
                  <a:pt x="5398404" y="2544366"/>
                  <a:pt x="5361867" y="2544366"/>
                </a:cubicBezTo>
                <a:lnTo>
                  <a:pt x="0" y="2544366"/>
                </a:lnTo>
                <a:lnTo>
                  <a:pt x="0" y="0"/>
                </a:lnTo>
                <a:close/>
              </a:path>
            </a:pathLst>
          </a:custGeom>
          <a:solidFill>
            <a:srgbClr val="CCE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6095848" y="2641104"/>
            <a:ext cx="25399" cy="2544366"/>
          </a:xfrm>
          <a:prstGeom prst="roundRect">
            <a:avLst>
              <a:gd fmla="val 50001" name="adj"/>
            </a:avLst>
          </a:prstGeom>
          <a:solidFill>
            <a:srgbClr val="B2D0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6284854" y="2830116"/>
            <a:ext cx="505000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📁</a:t>
            </a: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Estático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284854" y="3238798"/>
            <a:ext cx="5050009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Já existe </a:t>
            </a:r>
            <a:r>
              <a:rPr b="1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persistido no servidor</a:t>
            </a: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, aguardando ser requisitado.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284854" y="3957042"/>
            <a:ext cx="5050009" cy="1039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Imagens, fontes, vídeos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HTML, CSS, JS servidos prontos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Apenas copiado para o client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661475" y="947837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Por que não servir estático pelo backend?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034580"/>
            <a:ext cx="5770220" cy="288805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/>
          <p:nvPr/>
        </p:nvSpPr>
        <p:spPr>
          <a:xfrm>
            <a:off x="687420" y="3357193"/>
            <a:ext cx="1083716" cy="16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Acesso Direto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2899346" y="4676743"/>
            <a:ext cx="1297000" cy="16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Baixo Overhead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5316270" y="3276128"/>
            <a:ext cx="1083716" cy="324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Rotas e Processamento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2896103" y="2153114"/>
            <a:ext cx="1297000" cy="16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Alto Overhead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1"/>
          <p:cNvSpPr/>
          <p:nvPr/>
        </p:nvSpPr>
        <p:spPr>
          <a:xfrm>
            <a:off x="2278407" y="4034892"/>
            <a:ext cx="1112538" cy="259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Nginx: requisição → sistema de arquivos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3805985" y="4040657"/>
            <a:ext cx="1112538" cy="259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Nginx: caminho direto e eficiente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3805985" y="2974208"/>
            <a:ext cx="1112538" cy="259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Backend: controller → leitura de disco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2243820" y="2974208"/>
            <a:ext cx="1112538" cy="259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Backend: rota → middlewares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661475" y="5135265"/>
            <a:ext cx="5770220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Backend carrega overhead de linguagem interpretada, garbage collector e event loop.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6899202" y="2192238"/>
            <a:ext cx="463726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 diferença na prática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1"/>
          <p:cNvSpPr/>
          <p:nvPr/>
        </p:nvSpPr>
        <p:spPr>
          <a:xfrm>
            <a:off x="6899202" y="2676525"/>
            <a:ext cx="4637269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Passar pelo ciclo do Node — rota, middlewares, controller — é overhead </a:t>
            </a:r>
            <a:r>
              <a:rPr b="1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desnecessário</a:t>
            </a: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para servir um arquivo estático.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7182662" y="3966468"/>
            <a:ext cx="435380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1 a 2 ordens de grandeza de diferença em throughput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6899202" y="3796407"/>
            <a:ext cx="25399" cy="944959"/>
          </a:xfrm>
          <a:prstGeom prst="roundRect">
            <a:avLst>
              <a:gd fmla="val 50001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"/>
          <p:cNvSpPr/>
          <p:nvPr/>
        </p:nvSpPr>
        <p:spPr>
          <a:xfrm>
            <a:off x="6899202" y="4953992"/>
            <a:ext cx="4637269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Nginx resolve a requisição </a:t>
            </a:r>
            <a:r>
              <a:rPr b="1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diretamente contra o sistema de arquivos</a:t>
            </a: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, sem intermediários.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661475" y="619820"/>
            <a:ext cx="10868745" cy="56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500"/>
              <a:buFont typeface="Inter"/>
              <a:buNone/>
            </a:pPr>
            <a:r>
              <a:rPr b="1" i="0" lang="en-US" sz="35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Nginx como Proxy Reverso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628775"/>
            <a:ext cx="4417307" cy="441741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5755833" y="2654796"/>
            <a:ext cx="5780637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Como o Nginx decide?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5755833" y="3105845"/>
            <a:ext cx="6390222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Com base no </a:t>
            </a:r>
            <a:r>
              <a:rPr b="1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método e path</a:t>
            </a: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da requisição HTTP: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5833" y="3577828"/>
            <a:ext cx="2805042" cy="142101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2"/>
          <p:cNvSpPr/>
          <p:nvPr/>
        </p:nvSpPr>
        <p:spPr>
          <a:xfrm>
            <a:off x="6062312" y="3782715"/>
            <a:ext cx="2293682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Arquivo estático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6062312" y="4233763"/>
            <a:ext cx="2293682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Resolve diretamente — sem passar pelo 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1428" y="3577828"/>
            <a:ext cx="2805042" cy="142101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2"/>
          <p:cNvSpPr/>
          <p:nvPr/>
        </p:nvSpPr>
        <p:spPr>
          <a:xfrm>
            <a:off x="9037907" y="3782715"/>
            <a:ext cx="2293682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Conteúdo dinâmico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2"/>
          <p:cNvSpPr/>
          <p:nvPr/>
        </p:nvSpPr>
        <p:spPr>
          <a:xfrm>
            <a:off x="9037907" y="4233763"/>
            <a:ext cx="2293682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Repassa a chamada para o backend processar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/>
          <p:nvPr/>
        </p:nvSpPr>
        <p:spPr>
          <a:xfrm>
            <a:off x="661475" y="630634"/>
            <a:ext cx="10868745" cy="449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Bloco </a:t>
            </a:r>
            <a:r>
              <a:rPr b="1" i="0" lang="en-US" sz="2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server</a:t>
            </a:r>
            <a:r>
              <a:rPr b="1" i="0" lang="en-US" sz="2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no Nginx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661475" y="1358999"/>
            <a:ext cx="5261439" cy="4139208"/>
          </a:xfrm>
          <a:prstGeom prst="roundRect">
            <a:avLst>
              <a:gd fmla="val 143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831532" y="1500684"/>
            <a:ext cx="4921325" cy="3855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server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listen 80;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root /var/www;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index index.html;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location /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autoindex on;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try_files $uri $uri/ =404;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location /imagens/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autoindex on;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try_files $uri =404;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error_page 404 /404.html;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6275131" y="1345704"/>
            <a:ext cx="5261439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Regras de match por especificidade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6275131" y="1673423"/>
            <a:ext cx="5261439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Nginx </a:t>
            </a: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não avalia de cima para baixo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. Ele escolhe o </a:t>
            </a:r>
            <a:r>
              <a:rPr b="1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prefixo mais longo</a:t>
            </a: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que casa com o path.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6275131" y="2189857"/>
            <a:ext cx="5261439" cy="659011"/>
          </a:xfrm>
          <a:prstGeom prst="roundRect">
            <a:avLst>
              <a:gd fmla="val 9035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6812" y="2359918"/>
            <a:ext cx="177200" cy="14168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/>
          <p:nvPr/>
        </p:nvSpPr>
        <p:spPr>
          <a:xfrm>
            <a:off x="6735693" y="2320925"/>
            <a:ext cx="4659196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especificidade do path determina a prioridade — não a ordem de escrita.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425" y="5718274"/>
            <a:ext cx="5386947" cy="52804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/>
          <p:nvPr/>
        </p:nvSpPr>
        <p:spPr>
          <a:xfrm>
            <a:off x="841255" y="5737324"/>
            <a:ext cx="5188118" cy="227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841255" y="6028829"/>
            <a:ext cx="5188118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Tenta arquivo → diretório → 404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174" y="5718274"/>
            <a:ext cx="5387046" cy="52804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/>
          <p:nvPr/>
        </p:nvSpPr>
        <p:spPr>
          <a:xfrm>
            <a:off x="6342003" y="5737324"/>
            <a:ext cx="5188217" cy="227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350"/>
              <a:buFont typeface="Consolas"/>
              <a:buNone/>
            </a:pPr>
            <a:r>
              <a:rPr b="1" i="0" lang="en-US" sz="13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/imagens/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6342003" y="6028829"/>
            <a:ext cx="5188217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Tenta apenas arquivo → 404 (mais específico)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/>
          <p:nvPr/>
        </p:nvSpPr>
        <p:spPr>
          <a:xfrm>
            <a:off x="661475" y="214014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DOM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61475" y="3014266"/>
            <a:ext cx="10868745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5100"/>
              <a:buFont typeface="Inter"/>
              <a:buNone/>
            </a:pPr>
            <a:r>
              <a:rPr b="1" i="0" lang="en-US" sz="51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Document Object Model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61475" y="4112915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HTML, CSS e JS trafegam pela rede como </a:t>
            </a:r>
            <a:r>
              <a:rPr b="1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strings</a:t>
            </a: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texto puro.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navegador precisa transformar esse texto em algo manipulável.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/>
          <p:nvPr/>
        </p:nvSpPr>
        <p:spPr>
          <a:xfrm>
            <a:off x="661475" y="125710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De String para Objeto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563713"/>
            <a:ext cx="5203794" cy="260449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/>
          <p:nvPr/>
        </p:nvSpPr>
        <p:spPr>
          <a:xfrm>
            <a:off x="684937" y="3756464"/>
            <a:ext cx="977310" cy="14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Manipulação 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2609341" y="4946453"/>
            <a:ext cx="1310336" cy="14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Resultado em Memória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4859298" y="3756464"/>
            <a:ext cx="977310" cy="14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Interpretação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2676758" y="2670609"/>
            <a:ext cx="1169653" cy="14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Fonte: String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2119711" y="4426107"/>
            <a:ext cx="1003302" cy="11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DOM em memória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497303" y="4431305"/>
            <a:ext cx="1003302" cy="11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Objeto manipulável JS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3497303" y="3411083"/>
            <a:ext cx="1003302" cy="23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Parsing pelo navegador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2088521" y="3469567"/>
            <a:ext cx="1003302" cy="11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String HTML recebida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6332776" y="2320230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 mesma lógica do JSON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6332776" y="2828131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6403666" y="2863552"/>
            <a:ext cx="283461" cy="354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6947024" y="2893020"/>
            <a:ext cx="458954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JSON chega como string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6947024" y="3377307"/>
            <a:ext cx="4589546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JSON.parse()</a:t>
            </a: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transforma em objeto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6332776" y="4064099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CCEAFF"/>
          </a:solidFill>
          <a:ln cap="flat" cmpd="sng" w="9525">
            <a:solidFill>
              <a:srgbClr val="B2D0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6403666" y="4099520"/>
            <a:ext cx="283461" cy="354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6947024" y="4128988"/>
            <a:ext cx="458954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HTML chega como string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6947024" y="4613275"/>
            <a:ext cx="458954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→ O navegador faz o parsing e gera o </a:t>
            </a:r>
            <a:r>
              <a:rPr b="1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DOM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6332776" y="5128320"/>
            <a:ext cx="5813379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DOM é armazenado na </a:t>
            </a:r>
            <a:r>
              <a:rPr b="1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memória do navegador</a:t>
            </a: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(client).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/>
          <p:nvPr/>
        </p:nvSpPr>
        <p:spPr>
          <a:xfrm>
            <a:off x="661475" y="656927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150"/>
              <a:buFont typeface="Inter"/>
              <a:buNone/>
            </a:pPr>
            <a:r>
              <a:rPr b="1" i="0" lang="en-US" sz="31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Estrutura em Árvore do DOM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517352"/>
            <a:ext cx="3495389" cy="3495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2045" y="1517352"/>
            <a:ext cx="401627" cy="40163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5172045" y="2089646"/>
            <a:ext cx="6364426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Nó raiz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5172045" y="2477195"/>
            <a:ext cx="6364426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Toda a estrutura se desdobra a partir dele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2045" y="2987973"/>
            <a:ext cx="401627" cy="40163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/>
          <p:nvPr/>
        </p:nvSpPr>
        <p:spPr>
          <a:xfrm>
            <a:off x="5172045" y="3560266"/>
            <a:ext cx="6364426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Parent / Children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5172045" y="3947815"/>
            <a:ext cx="6364426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Cada nó tem pai e pode ter filhos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72045" y="4458593"/>
            <a:ext cx="401627" cy="40163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/>
          <p:nvPr/>
        </p:nvSpPr>
        <p:spPr>
          <a:xfrm>
            <a:off x="5172045" y="5030887"/>
            <a:ext cx="6364426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Siblings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5172045" y="5418435"/>
            <a:ext cx="6364426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Nós que compartilham o mesmo pai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61475" y="5963345"/>
            <a:ext cx="11478330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Cada tag HTML vira um </a:t>
            </a: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HTMLElement</a:t>
            </a: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um nó dessa árvore, com pai, filhos e irmãos.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661475" y="1838623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JS de Frontend — Vendor API do Navegador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25350" y="2712740"/>
            <a:ext cx="5476043" cy="1785144"/>
          </a:xfrm>
          <a:prstGeom prst="roundRect">
            <a:avLst>
              <a:gd fmla="val 7624" name="adj"/>
            </a:avLst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714357" y="2901752"/>
            <a:ext cx="509802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Node.js (backend)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714357" y="3386038"/>
            <a:ext cx="5098029" cy="104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 acesso ao DOM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APIs de sistema de arquivos, rede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Sem </a:t>
            </a:r>
            <a:r>
              <a:rPr b="0" i="0" lang="en-US" sz="1450" u="none" cap="none" strike="noStrike">
                <a:solidFill>
                  <a:srgbClr val="FFFFFF"/>
                </a:solidFill>
                <a:highlight>
                  <a:srgbClr val="0D4369"/>
                </a:highlight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b="0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sem </a:t>
            </a:r>
            <a:r>
              <a:rPr b="0" i="0" lang="en-US" sz="1450" u="none" cap="none" strike="noStrike">
                <a:solidFill>
                  <a:srgbClr val="FFFFFF"/>
                </a:solidFill>
                <a:highlight>
                  <a:srgbClr val="0D4369"/>
                </a:highlight>
                <a:latin typeface="Consolas"/>
                <a:ea typeface="Consolas"/>
                <a:cs typeface="Consolas"/>
                <a:sym typeface="Consolas"/>
              </a:rPr>
              <a:t>window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6332776" y="2901752"/>
            <a:ext cx="520379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Navegador (frontend)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332776" y="3386038"/>
            <a:ext cx="5203794" cy="10457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600">
            <a:no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API própria para manipular o DOM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JS orientado a eventos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Char char="•"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Ponto de entrada: objeto </a:t>
            </a: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document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56682" y="4710509"/>
            <a:ext cx="11478330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 objeto </a:t>
            </a: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é o ponto de entrada para toda manipulação do DOM via JavaScript.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661475" y="590153"/>
            <a:ext cx="10868745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150"/>
              <a:buFont typeface="Inter"/>
              <a:buNone/>
            </a:pPr>
            <a:r>
              <a:rPr b="1" i="0" lang="en-US" sz="31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Criando e Inserindo Elementos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" name="Google Shape;1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365250"/>
            <a:ext cx="5366112" cy="238303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/>
          <p:nvPr/>
        </p:nvSpPr>
        <p:spPr>
          <a:xfrm>
            <a:off x="3224033" y="1471513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841156" y="2002830"/>
            <a:ext cx="5006751" cy="257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Consolas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createElement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841156" y="2342059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Cria elemento </a:t>
            </a: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fora</a:t>
            </a: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da árvore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841156" y="2733377"/>
            <a:ext cx="5006751" cy="835223"/>
          </a:xfrm>
          <a:prstGeom prst="roundRect">
            <a:avLst>
              <a:gd fmla="val 807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1033933" y="2894013"/>
            <a:ext cx="4621196" cy="513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document.createElement("p")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// Retorna: HTMLElement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108" y="1365250"/>
            <a:ext cx="5366112" cy="238303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/>
          <p:nvPr/>
        </p:nvSpPr>
        <p:spPr>
          <a:xfrm>
            <a:off x="8726666" y="1471513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343789" y="2002830"/>
            <a:ext cx="5006751" cy="257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Consolas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append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6343789" y="2342059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Insere no </a:t>
            </a: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final</a:t>
            </a: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dos filhos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343789" y="2733377"/>
            <a:ext cx="5006751" cy="835223"/>
          </a:xfrm>
          <a:prstGeom prst="roundRect">
            <a:avLst>
              <a:gd fmla="val 807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6536566" y="2894013"/>
            <a:ext cx="4621196" cy="513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document.body.append(el)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Retorna: undefined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884811"/>
            <a:ext cx="5366112" cy="238303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/>
          <p:nvPr/>
        </p:nvSpPr>
        <p:spPr>
          <a:xfrm>
            <a:off x="3224033" y="3991074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841156" y="4522391"/>
            <a:ext cx="5006751" cy="257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Consolas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prepend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841156" y="4861620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Insere no </a:t>
            </a:r>
            <a:r>
              <a:rPr b="1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início</a:t>
            </a: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dos filhos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841156" y="5252938"/>
            <a:ext cx="5006751" cy="835223"/>
          </a:xfrm>
          <a:prstGeom prst="roundRect">
            <a:avLst>
              <a:gd fmla="val 807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1033933" y="5413573"/>
            <a:ext cx="4621196" cy="513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document.body.prepend(el)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// Retorna: undefined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4108" y="3884811"/>
            <a:ext cx="5366112" cy="238303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/>
          <p:nvPr/>
        </p:nvSpPr>
        <p:spPr>
          <a:xfrm>
            <a:off x="8726666" y="3991074"/>
            <a:ext cx="240996" cy="301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6343789" y="4522391"/>
            <a:ext cx="5006751" cy="257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550"/>
              <a:buFont typeface="Consolas"/>
              <a:buNone/>
            </a:pPr>
            <a:r>
              <a:rPr b="1" i="0" lang="en-US" sz="15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setAttribute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343789" y="4861620"/>
            <a:ext cx="5006751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Adiciona ou atualiza atributo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6343789" y="5252938"/>
            <a:ext cx="5006751" cy="835223"/>
          </a:xfrm>
          <a:prstGeom prst="roundRect">
            <a:avLst>
              <a:gd fmla="val 807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6536566" y="5413573"/>
            <a:ext cx="4621196" cy="513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el.setAttribute("id", "x")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Retorna: undefined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/>
          <p:nvPr/>
        </p:nvSpPr>
        <p:spPr>
          <a:xfrm>
            <a:off x="661475" y="793254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Selecionando Elementos no DOM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661475" y="1761927"/>
            <a:ext cx="10868745" cy="3327797"/>
          </a:xfrm>
          <a:prstGeom prst="roundRect">
            <a:avLst>
              <a:gd fmla="val 238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661475" y="2313384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661475" y="2868017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661475" y="3422650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661475" y="3977283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661475" y="4531916"/>
            <a:ext cx="10868745" cy="11814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667924" y="1768277"/>
            <a:ext cx="3799586" cy="545108"/>
          </a:xfrm>
          <a:custGeom>
            <a:rect b="b" l="l" r="r" t="t"/>
            <a:pathLst>
              <a:path extrusionOk="0" h="545108" w="3799586">
                <a:moveTo>
                  <a:pt x="66156" y="0"/>
                </a:moveTo>
                <a:lnTo>
                  <a:pt x="3799586" y="0"/>
                </a:lnTo>
                <a:lnTo>
                  <a:pt x="3799586" y="545108"/>
                </a:lnTo>
                <a:lnTo>
                  <a:pt x="0" y="545108"/>
                </a:lnTo>
                <a:lnTo>
                  <a:pt x="0" y="66158"/>
                </a:lnTo>
                <a:cubicBezTo>
                  <a:pt x="0" y="29620"/>
                  <a:pt x="29619" y="0"/>
                  <a:pt x="66156" y="0"/>
                </a:cubicBezTo>
                <a:close/>
              </a:path>
            </a:pathLst>
          </a:cu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856931" y="1888034"/>
            <a:ext cx="403115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Método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4467510" y="1768277"/>
            <a:ext cx="3799586" cy="545108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/>
          <p:nvPr/>
        </p:nvSpPr>
        <p:spPr>
          <a:xfrm>
            <a:off x="4656517" y="1888034"/>
            <a:ext cx="403115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Busca por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8267096" y="1768277"/>
            <a:ext cx="3256774" cy="545108"/>
          </a:xfrm>
          <a:custGeom>
            <a:rect b="b" l="l" r="r" t="t"/>
            <a:pathLst>
              <a:path extrusionOk="0" h="545108" w="3256774">
                <a:moveTo>
                  <a:pt x="0" y="0"/>
                </a:moveTo>
                <a:lnTo>
                  <a:pt x="3190618" y="0"/>
                </a:lnTo>
                <a:cubicBezTo>
                  <a:pt x="3208164" y="0"/>
                  <a:pt x="3224991" y="6970"/>
                  <a:pt x="3237397" y="19377"/>
                </a:cubicBezTo>
                <a:cubicBezTo>
                  <a:pt x="3249804" y="31784"/>
                  <a:pt x="3256774" y="48612"/>
                  <a:pt x="3256774" y="66158"/>
                </a:cubicBezTo>
                <a:lnTo>
                  <a:pt x="3256774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8456103" y="1888034"/>
            <a:ext cx="348834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Retorna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856931" y="2436316"/>
            <a:ext cx="4031157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getElementById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656517" y="2436316"/>
            <a:ext cx="403115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ID único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8456103" y="2436316"/>
            <a:ext cx="3488345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 | null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856931" y="2990949"/>
            <a:ext cx="4031157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querySelector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4656517" y="2990949"/>
            <a:ext cx="403115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Seletor CSS (primeiro)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8456103" y="2990949"/>
            <a:ext cx="3488345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Element | null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856931" y="3545582"/>
            <a:ext cx="4031157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getElementsByClassName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56517" y="3545582"/>
            <a:ext cx="403115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Classe CSS (todos)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8456103" y="3545582"/>
            <a:ext cx="3488345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HTMLCollection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856931" y="4100215"/>
            <a:ext cx="4031157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getElementsByTagName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4656517" y="4100215"/>
            <a:ext cx="403115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Tag HTML (todos)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8456103" y="4100215"/>
            <a:ext cx="3488345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HTMLCollection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856931" y="4654848"/>
            <a:ext cx="4031157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querySelectorAll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4656517" y="4654848"/>
            <a:ext cx="403115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Seletor CSS (todos)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8456103" y="4654848"/>
            <a:ext cx="3488345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50"/>
              <a:buFont typeface="Consolas"/>
              <a:buNone/>
            </a:pPr>
            <a:r>
              <a:rPr b="0" i="0" lang="en-US" sz="14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NodeList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61475" y="5302349"/>
            <a:ext cx="10868745" cy="762298"/>
          </a:xfrm>
          <a:prstGeom prst="roundRect">
            <a:avLst>
              <a:gd fmla="val 1041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482" y="5570041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/>
          <p:nvPr/>
        </p:nvSpPr>
        <p:spPr>
          <a:xfrm>
            <a:off x="1275723" y="5538589"/>
            <a:ext cx="10675075" cy="30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Atenção:</a:t>
            </a: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HTMLCollection</a:t>
            </a: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NodeList</a:t>
            </a: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são </a:t>
            </a:r>
            <a:r>
              <a:rPr b="0" i="1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array-like</a:t>
            </a:r>
            <a:r>
              <a:rPr b="0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não são arrays puros de JS.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/>
          <p:nvPr/>
        </p:nvSpPr>
        <p:spPr>
          <a:xfrm>
            <a:off x="661475" y="940891"/>
            <a:ext cx="10868745" cy="573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3500"/>
              <a:buFont typeface="Inter"/>
              <a:buNone/>
            </a:pPr>
            <a:r>
              <a:rPr b="1" i="0" lang="en-US" sz="35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Atributos </a:t>
            </a:r>
            <a:r>
              <a:rPr b="1" i="0" lang="en-US" sz="35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1" i="0" lang="en-US" sz="35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b="1" i="0" lang="en-US" sz="35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855887"/>
            <a:ext cx="5349047" cy="177115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/>
          <p:nvPr/>
        </p:nvSpPr>
        <p:spPr>
          <a:xfrm>
            <a:off x="967954" y="2060773"/>
            <a:ext cx="4837686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único no documento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967954" y="2456259"/>
            <a:ext cx="4837686" cy="965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825">
            <a:noAutofit/>
          </a:bodyPr>
          <a:lstStyle/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Cada elemento tem </a:t>
            </a:r>
            <a:r>
              <a:rPr b="1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no máximo um</a:t>
            </a: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Nenhum outro elemento pode repeti-lo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Usado com </a:t>
            </a: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getElementById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074" y="1855887"/>
            <a:ext cx="5349146" cy="177115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0"/>
          <p:cNvSpPr/>
          <p:nvPr/>
        </p:nvSpPr>
        <p:spPr>
          <a:xfrm>
            <a:off x="6487553" y="2060773"/>
            <a:ext cx="4837785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Consolas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 — reutilizável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6487553" y="2456259"/>
            <a:ext cx="4837785" cy="95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825">
            <a:noAutofit/>
          </a:bodyPr>
          <a:lstStyle/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Pode se repetir em múltiplos elementos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Um elemento pode ter </a:t>
            </a:r>
            <a:r>
              <a:rPr b="1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várias classes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480" lvl="0" marL="2844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Char char="•"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Fundamental para aplicar estilos com CSS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661475" y="3882926"/>
            <a:ext cx="10868745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Próximas aulas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661475" y="4419302"/>
            <a:ext cx="359064" cy="22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661475" y="4699000"/>
            <a:ext cx="3509180" cy="25400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661475" y="4839494"/>
            <a:ext cx="3509180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CSS e classes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661475" y="5222280"/>
            <a:ext cx="3509180" cy="286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Estilização de elementos via </a:t>
            </a:r>
            <a:r>
              <a:rPr b="0" i="0" lang="en-US" sz="140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4341208" y="4419302"/>
            <a:ext cx="359064" cy="22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4341208" y="4699000"/>
            <a:ext cx="3509180" cy="25400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4341208" y="4839494"/>
            <a:ext cx="3509180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Objeto </a:t>
            </a:r>
            <a:r>
              <a:rPr b="1" i="0" lang="en-US" sz="1750" u="none" cap="none" strike="noStrike">
                <a:solidFill>
                  <a:srgbClr val="00365C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window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4341208" y="5234980"/>
            <a:ext cx="3509180" cy="280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Aula de navegadores — contexto global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8020941" y="4419302"/>
            <a:ext cx="359064" cy="22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 Light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8020941" y="4699000"/>
            <a:ext cx="3509180" cy="25400"/>
          </a:xfrm>
          <a:prstGeom prst="rect">
            <a:avLst/>
          </a:prstGeom>
          <a:solidFill>
            <a:srgbClr val="00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8020941" y="4839494"/>
            <a:ext cx="3509180" cy="280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Views dinâmicas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8020941" y="5222280"/>
            <a:ext cx="3509180" cy="560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365C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00365C"/>
                </a:solidFill>
                <a:latin typeface="Inter"/>
                <a:ea typeface="Inter"/>
                <a:cs typeface="Inter"/>
                <a:sym typeface="Inter"/>
              </a:rPr>
              <a:t>Conteúdo gerado pelo backend a cada requisição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