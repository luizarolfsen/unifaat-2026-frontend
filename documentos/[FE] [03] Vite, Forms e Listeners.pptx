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embeddedFontLst>
    <p:embeddedFont>
      <p:font typeface="Inter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Inter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4178d6736_0_0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g3f4178d6736_0_0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4178d6736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g3f4178d6736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g3f4178d6736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4178d6736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g3f4178d6736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f4178d6736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luan-tavares/unifaat-frontend-bimestre-01" TargetMode="External"/><Relationship Id="rId4" Type="http://schemas.openxmlformats.org/officeDocument/2006/relationships/hyperlink" Target="https://docs.google.com/forms/d/e/1FAIpQLSfVSiBxATYNmBNf0aLWIwGsq7BChyBwGIvV4y6BqKFiTUySAg/viewform?usp=dialo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55" cy="514336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/>
        </p:nvSpPr>
        <p:spPr>
          <a:xfrm>
            <a:off x="36530" y="3331785"/>
            <a:ext cx="58908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2026.2 - 4º Semestre - Frontend</a:t>
            </a:r>
            <a:endParaRPr b="1" sz="2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</a:rPr>
              <a:t>Aula 03 - Vite, Forms e Listeners</a:t>
            </a:r>
            <a:br>
              <a:rPr b="1" lang="en-US" sz="1900">
                <a:solidFill>
                  <a:schemeClr val="lt1"/>
                </a:solidFill>
              </a:rPr>
            </a:br>
            <a:r>
              <a:rPr b="1" lang="en-US" sz="1500">
                <a:solidFill>
                  <a:schemeClr val="lt1"/>
                </a:solidFill>
              </a:rPr>
              <a:t>Professor Luan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325" y="198000"/>
            <a:ext cx="636765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/>
        </p:nvSpPr>
        <p:spPr>
          <a:xfrm>
            <a:off x="855950" y="1833000"/>
            <a:ext cx="7215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Repositório:</a:t>
            </a:r>
            <a:br>
              <a:rPr lang="en-US"/>
            </a:br>
            <a:r>
              <a:rPr lang="en-US" u="sng">
                <a:solidFill>
                  <a:schemeClr val="hlink"/>
                </a:solidFill>
                <a:hlinkClick r:id="rId3"/>
              </a:rPr>
              <a:t>https://github.com/luan-tavares/unifaat-frontend-bimestre-01</a:t>
            </a:r>
            <a:br>
              <a:rPr lang="en-US"/>
            </a:br>
            <a:br>
              <a:rPr lang="en-US"/>
            </a:br>
            <a:r>
              <a:rPr b="1" lang="en-US"/>
              <a:t>TF 03:</a:t>
            </a:r>
            <a:br>
              <a:rPr b="1" lang="en-US"/>
            </a:br>
            <a:r>
              <a:rPr lang="en-US" u="sng">
                <a:solidFill>
                  <a:schemeClr val="hlink"/>
                </a:solidFill>
                <a:hlinkClick r:id="rId4"/>
              </a:rPr>
              <a:t>https://docs.google.com/forms/d/e/1FAIpQLSfVSiBxATYNmBNf0aLWIwGsq7BChyBwGIvV4y6BqKFiTUySAg/viewform?usp=dialog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496119" y="811039"/>
            <a:ext cx="8151763" cy="42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que é um Build?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7"/>
          <p:cNvSpPr/>
          <p:nvPr/>
        </p:nvSpPr>
        <p:spPr>
          <a:xfrm>
            <a:off x="496119" y="1538957"/>
            <a:ext cx="4792787" cy="21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Código-fonte → arquivos prontos para produção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7"/>
          <p:cNvSpPr/>
          <p:nvPr/>
        </p:nvSpPr>
        <p:spPr>
          <a:xfrm>
            <a:off x="496119" y="1892945"/>
            <a:ext cx="303014" cy="303014"/>
          </a:xfrm>
          <a:prstGeom prst="roundRect">
            <a:avLst>
              <a:gd fmla="val 18668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/>
          <p:nvPr/>
        </p:nvSpPr>
        <p:spPr>
          <a:xfrm>
            <a:off x="546646" y="1918208"/>
            <a:ext cx="201960" cy="252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7"/>
          <p:cNvSpPr/>
          <p:nvPr/>
        </p:nvSpPr>
        <p:spPr>
          <a:xfrm>
            <a:off x="927050" y="1939230"/>
            <a:ext cx="3904655" cy="2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Código-fonte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7"/>
          <p:cNvSpPr/>
          <p:nvPr/>
        </p:nvSpPr>
        <p:spPr>
          <a:xfrm>
            <a:off x="927050" y="2277517"/>
            <a:ext cx="3904655" cy="21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Múltiplos arquivos, sintaxes modernas, TypeScript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7"/>
          <p:cNvSpPr/>
          <p:nvPr/>
        </p:nvSpPr>
        <p:spPr>
          <a:xfrm>
            <a:off x="496119" y="2743423"/>
            <a:ext cx="303014" cy="303014"/>
          </a:xfrm>
          <a:prstGeom prst="roundRect">
            <a:avLst>
              <a:gd fmla="val 18668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/>
          <p:nvPr/>
        </p:nvSpPr>
        <p:spPr>
          <a:xfrm>
            <a:off x="546646" y="2768687"/>
            <a:ext cx="201960" cy="252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927050" y="2789709"/>
            <a:ext cx="3904655" cy="2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Build tool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/>
          <p:nvPr/>
        </p:nvSpPr>
        <p:spPr>
          <a:xfrm>
            <a:off x="927050" y="3127995"/>
            <a:ext cx="3904655" cy="21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Empacota, otimiza e transforma o código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/>
          <p:nvPr/>
        </p:nvSpPr>
        <p:spPr>
          <a:xfrm>
            <a:off x="496119" y="3593902"/>
            <a:ext cx="303014" cy="303014"/>
          </a:xfrm>
          <a:prstGeom prst="roundRect">
            <a:avLst>
              <a:gd fmla="val 18668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7"/>
          <p:cNvSpPr/>
          <p:nvPr/>
        </p:nvSpPr>
        <p:spPr>
          <a:xfrm>
            <a:off x="546646" y="3619165"/>
            <a:ext cx="201960" cy="252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927050" y="3640187"/>
            <a:ext cx="3904655" cy="2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Produção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927050" y="3978473"/>
            <a:ext cx="3904655" cy="21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JS puro, compatível com o navegador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5068044" y="1423839"/>
            <a:ext cx="3681561" cy="2908622"/>
          </a:xfrm>
          <a:prstGeom prst="roundRect">
            <a:avLst>
              <a:gd fmla="val 3334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5202659" y="1551756"/>
            <a:ext cx="3412331" cy="2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Exemplos de build tools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5202659" y="1890043"/>
            <a:ext cx="3412331" cy="974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850">
            <a:noAutofit/>
          </a:bodyPr>
          <a:lstStyle/>
          <a:p>
            <a:pPr indent="-213360" lvl="0" marL="2133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Webpack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Parcel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esbuild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>
            <a:off x="496119" y="1488728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Vite: para que serve?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496119" y="2215232"/>
            <a:ext cx="8151763" cy="1053182"/>
          </a:xfrm>
          <a:prstGeom prst="roundRect">
            <a:avLst>
              <a:gd fmla="val 5654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500881" y="2219995"/>
            <a:ext cx="4071119" cy="1043657"/>
          </a:xfrm>
          <a:custGeom>
            <a:rect b="b" l="l" r="r" t="t"/>
            <a:pathLst>
              <a:path extrusionOk="0" h="1043657" w="4071119">
                <a:moveTo>
                  <a:pt x="49619" y="0"/>
                </a:moveTo>
                <a:lnTo>
                  <a:pt x="4071119" y="0"/>
                </a:lnTo>
                <a:lnTo>
                  <a:pt x="4071119" y="1043657"/>
                </a:lnTo>
                <a:lnTo>
                  <a:pt x="49619" y="1043657"/>
                </a:lnTo>
                <a:cubicBezTo>
                  <a:pt x="22215" y="1043657"/>
                  <a:pt x="0" y="1021442"/>
                  <a:pt x="0" y="994038"/>
                </a:cubicBezTo>
                <a:lnTo>
                  <a:pt x="0" y="49619"/>
                </a:lnTo>
                <a:cubicBezTo>
                  <a:pt x="0" y="22215"/>
                  <a:pt x="22215" y="0"/>
                  <a:pt x="49619" y="0"/>
                </a:cubicBezTo>
                <a:close/>
              </a:path>
            </a:pathLst>
          </a:cu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642640" y="2361754"/>
            <a:ext cx="378760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🔥</a:t>
            </a: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Hot Module Reload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642640" y="2668265"/>
            <a:ext cx="378760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Atualiza só o módulo que mudou — sem recarregar a página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4572000" y="2219995"/>
            <a:ext cx="4071119" cy="1043657"/>
          </a:xfrm>
          <a:custGeom>
            <a:rect b="b" l="l" r="r" t="t"/>
            <a:pathLst>
              <a:path extrusionOk="0" h="1043657" w="4071119">
                <a:moveTo>
                  <a:pt x="0" y="0"/>
                </a:moveTo>
                <a:lnTo>
                  <a:pt x="4021500" y="0"/>
                </a:lnTo>
                <a:cubicBezTo>
                  <a:pt x="4034660" y="0"/>
                  <a:pt x="4047281" y="5228"/>
                  <a:pt x="4056586" y="14533"/>
                </a:cubicBezTo>
                <a:cubicBezTo>
                  <a:pt x="4065891" y="23838"/>
                  <a:pt x="4071119" y="36459"/>
                  <a:pt x="4071119" y="49619"/>
                </a:cubicBezTo>
                <a:lnTo>
                  <a:pt x="4071119" y="994039"/>
                </a:lnTo>
                <a:cubicBezTo>
                  <a:pt x="4071119" y="1021443"/>
                  <a:pt x="4048904" y="1043658"/>
                  <a:pt x="4021500" y="1043658"/>
                </a:cubicBezTo>
                <a:lnTo>
                  <a:pt x="0" y="1043657"/>
                </a:lnTo>
                <a:lnTo>
                  <a:pt x="0" y="0"/>
                </a:lnTo>
                <a:close/>
              </a:path>
            </a:pathLst>
          </a:cu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4572000" y="2219995"/>
            <a:ext cx="19050" cy="1043657"/>
          </a:xfrm>
          <a:prstGeom prst="roundRect">
            <a:avLst>
              <a:gd fmla="val 50000" name="adj"/>
            </a:avLst>
          </a:prstGeom>
          <a:solidFill>
            <a:srgbClr val="B2D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/>
          <p:nvPr/>
        </p:nvSpPr>
        <p:spPr>
          <a:xfrm>
            <a:off x="4713759" y="2361754"/>
            <a:ext cx="378760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Pré-compilação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4713759" y="2668265"/>
            <a:ext cx="378760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Escreva TypeScript e sintaxes modernas — o Vite transforma para JS puro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267519" y="3427884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 pré-compilação é o recurso mais relevante para o curso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496119" y="674266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HMR: sem recarregar a página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489323"/>
            <a:ext cx="1880592" cy="181890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/>
          <p:nvPr/>
        </p:nvSpPr>
        <p:spPr>
          <a:xfrm>
            <a:off x="733127" y="1650132"/>
            <a:ext cx="148277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Sem HMR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733127" y="2013347"/>
            <a:ext cx="1482775" cy="1134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Salvar um arquivo → recarregar página inteira → perder estado (formulário, scroll)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" name="Google Shape;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70" y="1489323"/>
            <a:ext cx="1880592" cy="181890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/>
          <p:nvPr/>
        </p:nvSpPr>
        <p:spPr>
          <a:xfrm>
            <a:off x="2755478" y="1650132"/>
            <a:ext cx="148277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Com HMR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2755478" y="2013347"/>
            <a:ext cx="1482775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Vite detecta o módulo alterado → envia só ele ao navegador → estado preservado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4749701" y="1471613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vite.config.js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4749701" y="1852538"/>
            <a:ext cx="3902943" cy="2098030"/>
          </a:xfrm>
          <a:prstGeom prst="roundRect">
            <a:avLst>
              <a:gd fmla="val 283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4919811" y="1994297"/>
            <a:ext cx="3562722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export default defineConfig({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root: 'public',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server: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hmr: true,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host: true,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port: 5173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4749701" y="4110038"/>
            <a:ext cx="4360143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host: true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aceita conexões externas ao localhost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/>
          <p:nvPr/>
        </p:nvSpPr>
        <p:spPr>
          <a:xfrm>
            <a:off x="496119" y="1225302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Executando o Vite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496119" y="1951806"/>
            <a:ext cx="8608963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Instalado como dependência local — binário fica em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node_modules/.bin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496119" y="2342852"/>
            <a:ext cx="4004965" cy="1575346"/>
          </a:xfrm>
          <a:prstGeom prst="roundRect">
            <a:avLst>
              <a:gd fmla="val 3780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0"/>
          <p:cNvSpPr/>
          <p:nvPr/>
        </p:nvSpPr>
        <p:spPr>
          <a:xfrm>
            <a:off x="642640" y="2489374"/>
            <a:ext cx="37119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Caminho relativo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642640" y="2870299"/>
            <a:ext cx="3711922" cy="510332"/>
          </a:xfrm>
          <a:prstGeom prst="roundRect">
            <a:avLst>
              <a:gd fmla="val 11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0"/>
          <p:cNvSpPr/>
          <p:nvPr/>
        </p:nvSpPr>
        <p:spPr>
          <a:xfrm>
            <a:off x="812750" y="3012058"/>
            <a:ext cx="337170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./node_modules/.bin/vite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642640" y="3540100"/>
            <a:ext cx="371192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Funciona sempre, sem depender do PATH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4642842" y="2342852"/>
            <a:ext cx="4005039" cy="1575346"/>
          </a:xfrm>
          <a:prstGeom prst="roundRect">
            <a:avLst>
              <a:gd fmla="val 3780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0"/>
          <p:cNvSpPr/>
          <p:nvPr/>
        </p:nvSpPr>
        <p:spPr>
          <a:xfrm>
            <a:off x="4789363" y="2489374"/>
            <a:ext cx="371199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Via npm script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4789363" y="2870299"/>
            <a:ext cx="3711997" cy="510332"/>
          </a:xfrm>
          <a:prstGeom prst="roundRect">
            <a:avLst>
              <a:gd fmla="val 11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0"/>
          <p:cNvSpPr/>
          <p:nvPr/>
        </p:nvSpPr>
        <p:spPr>
          <a:xfrm>
            <a:off x="4959474" y="3012058"/>
            <a:ext cx="3371776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npm run dev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4789363" y="3540100"/>
            <a:ext cx="3711997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npm adiciona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.bin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ao PATH automaticamente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/>
          <p:nvPr/>
        </p:nvSpPr>
        <p:spPr>
          <a:xfrm>
            <a:off x="496119" y="785292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Eventos: revisão e catálogo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496119" y="1582638"/>
            <a:ext cx="347803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Sintaxe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496119" y="1963564"/>
            <a:ext cx="3478039" cy="1644402"/>
          </a:xfrm>
          <a:prstGeom prst="roundRect">
            <a:avLst>
              <a:gd fmla="val 362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"/>
          <p:cNvSpPr/>
          <p:nvPr/>
        </p:nvSpPr>
        <p:spPr>
          <a:xfrm>
            <a:off x="666229" y="2105323"/>
            <a:ext cx="3137818" cy="1360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botao.addEventListener(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"click",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function (event)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console.log(event.target);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496119" y="3767435"/>
            <a:ext cx="3478039" cy="463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target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→ onde ocorreu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currentTarget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→ onde o listener está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4324796" y="1600349"/>
            <a:ext cx="2092970" cy="1147986"/>
          </a:xfrm>
          <a:prstGeom prst="roundRect">
            <a:avLst>
              <a:gd fmla="val 5187" name="adj"/>
            </a:avLst>
          </a:prstGeom>
          <a:solidFill>
            <a:srgbClr val="FFFFFF"/>
          </a:solidFill>
          <a:ln cap="flat" cmpd="sng" w="19050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"/>
          <p:cNvSpPr/>
          <p:nvPr/>
        </p:nvSpPr>
        <p:spPr>
          <a:xfrm>
            <a:off x="4485605" y="1761158"/>
            <a:ext cx="177135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Mouse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4485605" y="2124373"/>
            <a:ext cx="1771352" cy="463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click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·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dblclick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·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mouseover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·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mouseenter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6559525" y="1600349"/>
            <a:ext cx="2093044" cy="1147986"/>
          </a:xfrm>
          <a:prstGeom prst="roundRect">
            <a:avLst>
              <a:gd fmla="val 5187" name="adj"/>
            </a:avLst>
          </a:prstGeom>
          <a:solidFill>
            <a:srgbClr val="FFFFFF"/>
          </a:solidFill>
          <a:ln cap="flat" cmpd="sng" w="19050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6720334" y="1761158"/>
            <a:ext cx="177142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Teclado / Input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6720334" y="2124373"/>
            <a:ext cx="1771427" cy="463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keydown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·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keyup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·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·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change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4324796" y="2890093"/>
            <a:ext cx="4327773" cy="916409"/>
          </a:xfrm>
          <a:prstGeom prst="roundRect">
            <a:avLst>
              <a:gd fmla="val 6497" name="adj"/>
            </a:avLst>
          </a:prstGeom>
          <a:solidFill>
            <a:srgbClr val="FFFFFF"/>
          </a:solidFill>
          <a:ln cap="flat" cmpd="sng" w="19050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4485605" y="3050902"/>
            <a:ext cx="400615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Formulário / Página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4485605" y="3414117"/>
            <a:ext cx="4006155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submit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·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focus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·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blur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·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DOMContentLoaded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/>
          <p:nvPr/>
        </p:nvSpPr>
        <p:spPr>
          <a:xfrm>
            <a:off x="496119" y="782985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preventDefault e stopPropagation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496119" y="1580331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preventDefault()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496119" y="1943546"/>
            <a:ext cx="39029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Cancela o comportamento padrão do navegador — o evento continua propagando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496119" y="2556644"/>
            <a:ext cx="3902943" cy="1644402"/>
          </a:xfrm>
          <a:prstGeom prst="roundRect">
            <a:avLst>
              <a:gd fmla="val 362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2"/>
          <p:cNvSpPr/>
          <p:nvPr/>
        </p:nvSpPr>
        <p:spPr>
          <a:xfrm>
            <a:off x="666229" y="2698403"/>
            <a:ext cx="3562722" cy="1360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link.addEventListener("click",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function (event)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event.preventDefault();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// link não navega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4749701" y="1580331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stopPropagation()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4749701" y="1943546"/>
            <a:ext cx="39029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Interrompe o bubbling — listeners dos elementos pai não são disparados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2"/>
          <p:cNvSpPr/>
          <p:nvPr/>
        </p:nvSpPr>
        <p:spPr>
          <a:xfrm>
            <a:off x="4749701" y="2556644"/>
            <a:ext cx="3902943" cy="1644402"/>
          </a:xfrm>
          <a:prstGeom prst="roundRect">
            <a:avLst>
              <a:gd fmla="val 362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2"/>
          <p:cNvSpPr/>
          <p:nvPr/>
        </p:nvSpPr>
        <p:spPr>
          <a:xfrm>
            <a:off x="4919811" y="2698403"/>
            <a:ext cx="3562722" cy="1360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item.addEventListener("click",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function (event)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event.stopPropagation();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// evento para aqui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/>
          <p:nvPr/>
        </p:nvSpPr>
        <p:spPr>
          <a:xfrm>
            <a:off x="496119" y="505420"/>
            <a:ext cx="8151763" cy="35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Fases do Evento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496119" y="1086520"/>
            <a:ext cx="1240408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① Capturing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496119" y="1299939"/>
            <a:ext cx="1240408" cy="35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2017961" y="1097831"/>
            <a:ext cx="365522" cy="403994"/>
          </a:xfrm>
          <a:prstGeom prst="roundRect">
            <a:avLst>
              <a:gd fmla="val 13032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2136130" y="1200150"/>
            <a:ext cx="129183" cy="199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2496889" y="1211238"/>
            <a:ext cx="4525119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window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2440186" y="1495871"/>
            <a:ext cx="4638526" cy="7144"/>
          </a:xfrm>
          <a:prstGeom prst="roundRect">
            <a:avLst>
              <a:gd fmla="val 49998" name="adj"/>
            </a:avLst>
          </a:prstGeom>
          <a:solidFill>
            <a:srgbClr val="B2D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2017961" y="1558528"/>
            <a:ext cx="731044" cy="403994"/>
          </a:xfrm>
          <a:prstGeom prst="roundRect">
            <a:avLst>
              <a:gd fmla="val 11791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>
            <a:off x="2303711" y="1660847"/>
            <a:ext cx="159469" cy="199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2862411" y="1671935"/>
            <a:ext cx="4159597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html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2805708" y="1956569"/>
            <a:ext cx="4273004" cy="7144"/>
          </a:xfrm>
          <a:prstGeom prst="roundRect">
            <a:avLst>
              <a:gd fmla="val 49998" name="adj"/>
            </a:avLst>
          </a:prstGeom>
          <a:solidFill>
            <a:srgbClr val="B2D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2017961" y="2019226"/>
            <a:ext cx="1096566" cy="403994"/>
          </a:xfrm>
          <a:prstGeom prst="roundRect">
            <a:avLst>
              <a:gd fmla="val 11791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2486471" y="2121545"/>
            <a:ext cx="159469" cy="199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3227933" y="2132633"/>
            <a:ext cx="3794075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body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3171230" y="2417266"/>
            <a:ext cx="3907482" cy="7144"/>
          </a:xfrm>
          <a:prstGeom prst="roundRect">
            <a:avLst>
              <a:gd fmla="val 49998" name="adj"/>
            </a:avLst>
          </a:prstGeom>
          <a:solidFill>
            <a:srgbClr val="B2D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"/>
          <p:cNvSpPr/>
          <p:nvPr/>
        </p:nvSpPr>
        <p:spPr>
          <a:xfrm>
            <a:off x="2017961" y="2479923"/>
            <a:ext cx="1462088" cy="403994"/>
          </a:xfrm>
          <a:prstGeom prst="roundRect">
            <a:avLst>
              <a:gd fmla="val 11791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2669232" y="2582242"/>
            <a:ext cx="159469" cy="199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3593455" y="2593330"/>
            <a:ext cx="3428554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3536752" y="2877964"/>
            <a:ext cx="3541961" cy="7144"/>
          </a:xfrm>
          <a:prstGeom prst="roundRect">
            <a:avLst>
              <a:gd fmla="val 49998" name="adj"/>
            </a:avLst>
          </a:prstGeom>
          <a:solidFill>
            <a:srgbClr val="B2D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"/>
          <p:cNvSpPr/>
          <p:nvPr/>
        </p:nvSpPr>
        <p:spPr>
          <a:xfrm>
            <a:off x="2017961" y="2940621"/>
            <a:ext cx="1827609" cy="403994"/>
          </a:xfrm>
          <a:prstGeom prst="roundRect">
            <a:avLst>
              <a:gd fmla="val 11791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2851993" y="3042940"/>
            <a:ext cx="159469" cy="199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3958977" y="3054028"/>
            <a:ext cx="3063032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3902273" y="3338661"/>
            <a:ext cx="3176439" cy="7144"/>
          </a:xfrm>
          <a:prstGeom prst="roundRect">
            <a:avLst>
              <a:gd fmla="val 49998" name="adj"/>
            </a:avLst>
          </a:prstGeom>
          <a:solidFill>
            <a:srgbClr val="B2D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"/>
          <p:cNvSpPr/>
          <p:nvPr/>
        </p:nvSpPr>
        <p:spPr>
          <a:xfrm>
            <a:off x="2017961" y="3401318"/>
            <a:ext cx="2193131" cy="403994"/>
          </a:xfrm>
          <a:prstGeom prst="roundRect">
            <a:avLst>
              <a:gd fmla="val 11791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"/>
          <p:cNvSpPr/>
          <p:nvPr/>
        </p:nvSpPr>
        <p:spPr>
          <a:xfrm>
            <a:off x="3034754" y="3503637"/>
            <a:ext cx="159469" cy="199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4324499" y="3514725"/>
            <a:ext cx="2697510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div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4267795" y="3799359"/>
            <a:ext cx="2810917" cy="7144"/>
          </a:xfrm>
          <a:prstGeom prst="roundRect">
            <a:avLst>
              <a:gd fmla="val 49998" name="adj"/>
            </a:avLst>
          </a:prstGeom>
          <a:solidFill>
            <a:srgbClr val="B2D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"/>
          <p:cNvSpPr/>
          <p:nvPr/>
        </p:nvSpPr>
        <p:spPr>
          <a:xfrm>
            <a:off x="2017961" y="3862015"/>
            <a:ext cx="2558728" cy="403994"/>
          </a:xfrm>
          <a:prstGeom prst="roundRect">
            <a:avLst>
              <a:gd fmla="val 11791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"/>
          <p:cNvSpPr/>
          <p:nvPr/>
        </p:nvSpPr>
        <p:spPr>
          <a:xfrm>
            <a:off x="3217590" y="3964335"/>
            <a:ext cx="159469" cy="199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4690095" y="3975422"/>
            <a:ext cx="2331913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button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7416850" y="1086520"/>
            <a:ext cx="1240408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② Bubbling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7416850" y="1299939"/>
            <a:ext cx="1240408" cy="35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↑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267519" y="4470053"/>
            <a:ext cx="8608963" cy="168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Por padrão, </a:t>
            </a:r>
            <a:r>
              <a:rPr b="0" i="0" lang="en-US" sz="8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addEventListener</a:t>
            </a:r>
            <a:r>
              <a:rPr b="0" i="0" lang="en-US" sz="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escuta na fase de </a:t>
            </a:r>
            <a:r>
              <a:rPr b="1" i="0" lang="en-US" sz="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bubbling</a:t>
            </a:r>
            <a:r>
              <a:rPr b="0" i="0" lang="en-US" sz="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. Use </a:t>
            </a:r>
            <a:r>
              <a:rPr b="0" i="0" lang="en-US" sz="8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{ capture: true }</a:t>
            </a:r>
            <a:r>
              <a:rPr b="0" i="0" lang="en-US" sz="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para capturing.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/>
          <p:nvPr/>
        </p:nvSpPr>
        <p:spPr>
          <a:xfrm>
            <a:off x="496119" y="695251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Formulários HTML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496119" y="1510308"/>
            <a:ext cx="4327773" cy="2778472"/>
          </a:xfrm>
          <a:prstGeom prst="roundRect">
            <a:avLst>
              <a:gd fmla="val 214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666229" y="1652067"/>
            <a:ext cx="3987552" cy="249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&lt;form id="form-usuario"&gt;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&lt;input type="text" name="nome"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     placeholder="Nome" required&gt;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&lt;input type="email" name="email"&gt;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&lt;input type="checkbox" name="ativo"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     checked&gt;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&lt;input type="text" name="id"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     value="123" readonly&gt;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&lt;button type="submit"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      disabled&gt;Salvar&lt;/button&gt;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1" name="Google Shape;18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5481" y="1491258"/>
            <a:ext cx="1669479" cy="85494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4"/>
          <p:cNvSpPr/>
          <p:nvPr/>
        </p:nvSpPr>
        <p:spPr>
          <a:xfrm>
            <a:off x="5354389" y="1510308"/>
            <a:ext cx="147057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value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5354389" y="1873523"/>
            <a:ext cx="147057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Valor atual do campo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3090" y="1491258"/>
            <a:ext cx="1669479" cy="85494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4"/>
          <p:cNvSpPr/>
          <p:nvPr/>
        </p:nvSpPr>
        <p:spPr>
          <a:xfrm>
            <a:off x="7181999" y="1510308"/>
            <a:ext cx="147057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placeholder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7181999" y="1873523"/>
            <a:ext cx="147057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Texto de exemplo (campo vazio)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5481" y="2591619"/>
            <a:ext cx="1669479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4"/>
          <p:cNvSpPr/>
          <p:nvPr/>
        </p:nvSpPr>
        <p:spPr>
          <a:xfrm>
            <a:off x="5354389" y="2610669"/>
            <a:ext cx="1470571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disabled / readonly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5354389" y="3195340"/>
            <a:ext cx="147057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Desabilita ou bloqueia edição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3090" y="2591619"/>
            <a:ext cx="1669479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4"/>
          <p:cNvSpPr/>
          <p:nvPr/>
        </p:nvSpPr>
        <p:spPr>
          <a:xfrm>
            <a:off x="7181999" y="2610669"/>
            <a:ext cx="147057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required / name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7181999" y="2973884"/>
            <a:ext cx="1470571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Validação e identificação do campo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496119" y="695251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Evento Submit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9" name="Google Shape;1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10308"/>
            <a:ext cx="1880592" cy="159149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/>
          <p:nvPr/>
        </p:nvSpPr>
        <p:spPr>
          <a:xfrm>
            <a:off x="733127" y="1671117"/>
            <a:ext cx="1482775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Listener no &lt;form&gt;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733127" y="2255788"/>
            <a:ext cx="1482775" cy="685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Não no botão, não nos inputs — no elemento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8470" y="1510308"/>
            <a:ext cx="1880592" cy="159149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5"/>
          <p:cNvSpPr/>
          <p:nvPr/>
        </p:nvSpPr>
        <p:spPr>
          <a:xfrm>
            <a:off x="2755478" y="1671117"/>
            <a:ext cx="1482775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preventDefault obrigatório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2755478" y="2255788"/>
            <a:ext cx="1482775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Sem ele, a página recarrega e os dados se perdem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4749701" y="1510308"/>
            <a:ext cx="3902943" cy="2778472"/>
          </a:xfrm>
          <a:prstGeom prst="roundRect">
            <a:avLst>
              <a:gd fmla="val 214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5"/>
          <p:cNvSpPr/>
          <p:nvPr/>
        </p:nvSpPr>
        <p:spPr>
          <a:xfrm>
            <a:off x="4919811" y="1652067"/>
            <a:ext cx="3562722" cy="249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const form = document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.querySelector("#form-usuario");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form.addEventListener("submit",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function (event)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event.preventDefault();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const nome = form.nome.value;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const email = form.email.value;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console.log(nome, email);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/>
          <p:nvPr/>
        </p:nvSpPr>
        <p:spPr>
          <a:xfrm>
            <a:off x="496119" y="1037555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JSON: a mesma lógica desde a Aula 1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3" name="Google Shape;2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764060"/>
            <a:ext cx="2717229" cy="56703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6"/>
          <p:cNvSpPr/>
          <p:nvPr/>
        </p:nvSpPr>
        <p:spPr>
          <a:xfrm>
            <a:off x="637877" y="2472854"/>
            <a:ext cx="243371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Rede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637877" y="2779365"/>
            <a:ext cx="243371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Dados trafegam como </a:t>
            </a: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string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" name="Google Shape;2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3348" y="1764060"/>
            <a:ext cx="2717229" cy="56703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6"/>
          <p:cNvSpPr/>
          <p:nvPr/>
        </p:nvSpPr>
        <p:spPr>
          <a:xfrm>
            <a:off x="3355107" y="2472854"/>
            <a:ext cx="243371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Parsing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3355107" y="2779365"/>
            <a:ext cx="243371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String JSON → </a:t>
            </a: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objeto 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9" name="Google Shape;2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0578" y="1764060"/>
            <a:ext cx="2717229" cy="56703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6"/>
          <p:cNvSpPr/>
          <p:nvPr/>
        </p:nvSpPr>
        <p:spPr>
          <a:xfrm>
            <a:off x="6072336" y="2472854"/>
            <a:ext cx="243371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Uso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6072336" y="2779365"/>
            <a:ext cx="243371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Objeto manipulável no frontend ou 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496119" y="3534221"/>
            <a:ext cx="8151763" cy="571723"/>
          </a:xfrm>
          <a:prstGeom prst="roundRect">
            <a:avLst>
              <a:gd fmla="val 10415" name="adj"/>
            </a:avLst>
          </a:pr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7877" y="3734991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6"/>
          <p:cNvSpPr/>
          <p:nvPr/>
        </p:nvSpPr>
        <p:spPr>
          <a:xfrm>
            <a:off x="956816" y="3711401"/>
            <a:ext cx="8006507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Axios faz o parsing automaticamente — </a:t>
            </a:r>
            <a:r>
              <a:rPr b="0" i="0" lang="en-US" sz="11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response.data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já é o objeto.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"/>
          <p:cNvSpPr/>
          <p:nvPr/>
        </p:nvSpPr>
        <p:spPr>
          <a:xfrm>
            <a:off x="496119" y="424235"/>
            <a:ext cx="8151763" cy="348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150"/>
              <a:buFont typeface="Inter"/>
              <a:buNone/>
            </a:pPr>
            <a:r>
              <a:rPr b="1" i="0" lang="en-US" sz="21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Axios: cliente HTTP com Promises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415751" y="904949"/>
            <a:ext cx="3257996" cy="3814316"/>
          </a:xfrm>
          <a:prstGeom prst="roundRect">
            <a:avLst>
              <a:gd fmla="val 2467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527372" y="992832"/>
            <a:ext cx="3034754" cy="174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Por que Axios?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527372" y="1255068"/>
            <a:ext cx="3034754" cy="54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650">
            <a:noAutofit/>
          </a:bodyPr>
          <a:lstStyle/>
          <a:p>
            <a:pPr indent="-172720" lvl="0" marL="17272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Inter"/>
              <a:buChar char="•"/>
            </a:pPr>
            <a:r>
              <a:rPr b="0" i="0" lang="en-US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Baseado em Promises (async/await)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Inter"/>
              <a:buChar char="•"/>
            </a:pPr>
            <a:r>
              <a:rPr b="0" i="0" lang="en-US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Parsing automático do JSON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Inter"/>
              <a:buChar char="•"/>
            </a:pPr>
            <a:r>
              <a:rPr b="0" i="0" lang="en-US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Mesma API no frontend e no Node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527372" y="1883271"/>
            <a:ext cx="3034754" cy="174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Instalação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527372" y="2156520"/>
            <a:ext cx="3034754" cy="401836"/>
          </a:xfrm>
          <a:prstGeom prst="roundRect">
            <a:avLst>
              <a:gd fmla="val 11669" name="adj"/>
            </a:avLst>
          </a:prstGeom>
          <a:solidFill>
            <a:srgbClr val="0D43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/>
          <p:cNvSpPr/>
          <p:nvPr/>
        </p:nvSpPr>
        <p:spPr>
          <a:xfrm>
            <a:off x="661318" y="2268141"/>
            <a:ext cx="3224064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npm install axios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3870499" y="1003846"/>
            <a:ext cx="4782071" cy="3616523"/>
          </a:xfrm>
          <a:prstGeom prst="roundRect">
            <a:avLst>
              <a:gd fmla="val 129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4004444" y="1115467"/>
            <a:ext cx="4514180" cy="3393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import axios from "axios";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// GET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async function buscarUsuarios()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const response = await axios.get(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"http://localhost:3000/usuarios"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console.log(response.data);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// POST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async function criarUsuario()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const response = await axios.post(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"http://localhost:3000/usuarios",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{ nome: "Ana",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email: "ana@email.com"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console.log(response.data);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/>
          <p:nvPr/>
        </p:nvSpPr>
        <p:spPr>
          <a:xfrm>
            <a:off x="496119" y="551036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CRUD de Usuários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496119" y="1277541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 API está aberta — autenticação entra na próxima aula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496119" y="1663824"/>
            <a:ext cx="4004965" cy="1393403"/>
          </a:xfrm>
          <a:prstGeom prst="roundRect">
            <a:avLst>
              <a:gd fmla="val 4273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642640" y="1810345"/>
            <a:ext cx="425276" cy="425276"/>
          </a:xfrm>
          <a:prstGeom prst="ellipse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" name="Google Shape;2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619" y="1927250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8"/>
          <p:cNvSpPr/>
          <p:nvPr/>
        </p:nvSpPr>
        <p:spPr>
          <a:xfrm>
            <a:off x="642640" y="2377380"/>
            <a:ext cx="37119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GET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642640" y="2683892"/>
            <a:ext cx="371192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Listar usuários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4642842" y="1663824"/>
            <a:ext cx="4005039" cy="1393403"/>
          </a:xfrm>
          <a:prstGeom prst="roundRect">
            <a:avLst>
              <a:gd fmla="val 4273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4789363" y="1810345"/>
            <a:ext cx="425276" cy="425276"/>
          </a:xfrm>
          <a:prstGeom prst="ellipse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6342" y="1927250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8"/>
          <p:cNvSpPr/>
          <p:nvPr/>
        </p:nvSpPr>
        <p:spPr>
          <a:xfrm>
            <a:off x="4789363" y="2377380"/>
            <a:ext cx="371199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POST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4789363" y="2683892"/>
            <a:ext cx="371199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Criar usuário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496119" y="3198986"/>
            <a:ext cx="4004965" cy="1393403"/>
          </a:xfrm>
          <a:prstGeom prst="roundRect">
            <a:avLst>
              <a:gd fmla="val 4273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8"/>
          <p:cNvSpPr/>
          <p:nvPr/>
        </p:nvSpPr>
        <p:spPr>
          <a:xfrm>
            <a:off x="642640" y="3345507"/>
            <a:ext cx="425276" cy="425276"/>
          </a:xfrm>
          <a:prstGeom prst="ellipse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619" y="3462412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8"/>
          <p:cNvSpPr/>
          <p:nvPr/>
        </p:nvSpPr>
        <p:spPr>
          <a:xfrm>
            <a:off x="642640" y="3912543"/>
            <a:ext cx="37119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PUT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642640" y="4219054"/>
            <a:ext cx="371192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Atualizar usuário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4642842" y="3198986"/>
            <a:ext cx="4005039" cy="1393403"/>
          </a:xfrm>
          <a:prstGeom prst="roundRect">
            <a:avLst>
              <a:gd fmla="val 4273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8"/>
          <p:cNvSpPr/>
          <p:nvPr/>
        </p:nvSpPr>
        <p:spPr>
          <a:xfrm>
            <a:off x="4789363" y="3345507"/>
            <a:ext cx="425276" cy="425276"/>
          </a:xfrm>
          <a:prstGeom prst="ellipse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06342" y="3462412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8"/>
          <p:cNvSpPr/>
          <p:nvPr/>
        </p:nvSpPr>
        <p:spPr>
          <a:xfrm>
            <a:off x="4789363" y="3912543"/>
            <a:ext cx="371199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DELETE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4789363" y="4219054"/>
            <a:ext cx="371199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Remover usuário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